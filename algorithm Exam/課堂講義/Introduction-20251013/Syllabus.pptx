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Times New Roman" pitchFamily="18" charset="0"/>
        <a:ea typeface="標楷體" pitchFamily="65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Times New Roman" pitchFamily="18" charset="0"/>
        <a:ea typeface="標楷體" pitchFamily="65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Times New Roman" pitchFamily="18" charset="0"/>
        <a:ea typeface="標楷體" pitchFamily="65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Times New Roman" pitchFamily="18" charset="0"/>
        <a:ea typeface="標楷體" pitchFamily="65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Times New Roman" pitchFamily="18" charset="0"/>
        <a:ea typeface="標楷體" pitchFamily="65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Times New Roman" pitchFamily="18" charset="0"/>
        <a:ea typeface="標楷體" pitchFamily="65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Times New Roman" pitchFamily="18" charset="0"/>
        <a:ea typeface="標楷體" pitchFamily="65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Times New Roman" pitchFamily="18" charset="0"/>
        <a:ea typeface="標楷體" pitchFamily="65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Times New Roman" pitchFamily="18" charset="0"/>
        <a:ea typeface="標楷體" pitchFamily="65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38B4FD-65DD-4A51-94B9-E43CEF3DB6AD}" v="110" dt="2025-09-01T12:31:25.5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86964" autoAdjust="0"/>
  </p:normalViewPr>
  <p:slideViewPr>
    <p:cSldViewPr>
      <p:cViewPr>
        <p:scale>
          <a:sx n="92" d="100"/>
          <a:sy n="92" d="100"/>
        </p:scale>
        <p:origin x="644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>
        <p:scale>
          <a:sx n="66" d="100"/>
          <a:sy n="66" d="100"/>
        </p:scale>
        <p:origin x="-936" y="-1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-Chun Tsai" userId="8b66d61fc893c84c" providerId="LiveId" clId="{2B38B4FD-65DD-4A51-94B9-E43CEF3DB6AD}"/>
    <pc:docChg chg="modSld">
      <pc:chgData name="Shi-Chun Tsai" userId="8b66d61fc893c84c" providerId="LiveId" clId="{2B38B4FD-65DD-4A51-94B9-E43CEF3DB6AD}" dt="2025-09-01T12:32:18.569" v="159" actId="13926"/>
      <pc:docMkLst>
        <pc:docMk/>
      </pc:docMkLst>
      <pc:sldChg chg="modSp mod">
        <pc:chgData name="Shi-Chun Tsai" userId="8b66d61fc893c84c" providerId="LiveId" clId="{2B38B4FD-65DD-4A51-94B9-E43CEF3DB6AD}" dt="2025-09-01T11:55:49.827" v="36" actId="20577"/>
        <pc:sldMkLst>
          <pc:docMk/>
          <pc:sldMk cId="0" sldId="256"/>
        </pc:sldMkLst>
        <pc:spChg chg="mod">
          <ac:chgData name="Shi-Chun Tsai" userId="8b66d61fc893c84c" providerId="LiveId" clId="{2B38B4FD-65DD-4A51-94B9-E43CEF3DB6AD}" dt="2025-09-01T11:55:49.827" v="36" actId="20577"/>
          <ac:spMkLst>
            <pc:docMk/>
            <pc:sldMk cId="0" sldId="256"/>
            <ac:spMk id="2050" creationId="{00000000-0000-0000-0000-000000000000}"/>
          </ac:spMkLst>
        </pc:spChg>
      </pc:sldChg>
      <pc:sldChg chg="modSp mod">
        <pc:chgData name="Shi-Chun Tsai" userId="8b66d61fc893c84c" providerId="LiveId" clId="{2B38B4FD-65DD-4A51-94B9-E43CEF3DB6AD}" dt="2025-09-01T12:00:01.205" v="39" actId="20577"/>
        <pc:sldMkLst>
          <pc:docMk/>
          <pc:sldMk cId="1103805234" sldId="258"/>
        </pc:sldMkLst>
        <pc:spChg chg="mod">
          <ac:chgData name="Shi-Chun Tsai" userId="8b66d61fc893c84c" providerId="LiveId" clId="{2B38B4FD-65DD-4A51-94B9-E43CEF3DB6AD}" dt="2025-09-01T12:00:01.205" v="39" actId="20577"/>
          <ac:spMkLst>
            <pc:docMk/>
            <pc:sldMk cId="1103805234" sldId="258"/>
            <ac:spMk id="5123" creationId="{00000000-0000-0000-0000-000000000000}"/>
          </ac:spMkLst>
        </pc:spChg>
      </pc:sldChg>
      <pc:sldChg chg="modSp mod">
        <pc:chgData name="Shi-Chun Tsai" userId="8b66d61fc893c84c" providerId="LiveId" clId="{2B38B4FD-65DD-4A51-94B9-E43CEF3DB6AD}" dt="2025-09-01T12:32:18.569" v="159" actId="13926"/>
        <pc:sldMkLst>
          <pc:docMk/>
          <pc:sldMk cId="1407257259" sldId="259"/>
        </pc:sldMkLst>
        <pc:spChg chg="mod">
          <ac:chgData name="Shi-Chun Tsai" userId="8b66d61fc893c84c" providerId="LiveId" clId="{2B38B4FD-65DD-4A51-94B9-E43CEF3DB6AD}" dt="2025-09-01T12:32:18.569" v="159" actId="13926"/>
          <ac:spMkLst>
            <pc:docMk/>
            <pc:sldMk cId="1407257259" sldId="259"/>
            <ac:spMk id="2" creationId="{00000000-0000-0000-0000-000000000000}"/>
          </ac:spMkLst>
        </pc:spChg>
        <pc:spChg chg="mod">
          <ac:chgData name="Shi-Chun Tsai" userId="8b66d61fc893c84c" providerId="LiveId" clId="{2B38B4FD-65DD-4A51-94B9-E43CEF3DB6AD}" dt="2025-09-01T12:32:09.753" v="158" actId="13926"/>
          <ac:spMkLst>
            <pc:docMk/>
            <pc:sldMk cId="1407257259" sldId="259"/>
            <ac:spMk id="5123" creationId="{00000000-0000-0000-0000-000000000000}"/>
          </ac:spMkLst>
        </pc:spChg>
      </pc:sldChg>
      <pc:sldChg chg="modSp modAnim">
        <pc:chgData name="Shi-Chun Tsai" userId="8b66d61fc893c84c" providerId="LiveId" clId="{2B38B4FD-65DD-4A51-94B9-E43CEF3DB6AD}" dt="2025-09-01T12:04:53.143" v="92" actId="20577"/>
        <pc:sldMkLst>
          <pc:docMk/>
          <pc:sldMk cId="2320368081" sldId="260"/>
        </pc:sldMkLst>
        <pc:spChg chg="mod">
          <ac:chgData name="Shi-Chun Tsai" userId="8b66d61fc893c84c" providerId="LiveId" clId="{2B38B4FD-65DD-4A51-94B9-E43CEF3DB6AD}" dt="2025-09-01T12:04:53.143" v="92" actId="20577"/>
          <ac:spMkLst>
            <pc:docMk/>
            <pc:sldMk cId="2320368081" sldId="260"/>
            <ac:spMk id="5123" creationId="{00000000-0000-0000-0000-000000000000}"/>
          </ac:spMkLst>
        </pc:spChg>
      </pc:sldChg>
      <pc:sldChg chg="addSp modSp mod modAnim">
        <pc:chgData name="Shi-Chun Tsai" userId="8b66d61fc893c84c" providerId="LiveId" clId="{2B38B4FD-65DD-4A51-94B9-E43CEF3DB6AD}" dt="2025-09-01T12:31:25.511" v="156" actId="13926"/>
        <pc:sldMkLst>
          <pc:docMk/>
          <pc:sldMk cId="1825673581" sldId="261"/>
        </pc:sldMkLst>
        <pc:spChg chg="mod">
          <ac:chgData name="Shi-Chun Tsai" userId="8b66d61fc893c84c" providerId="LiveId" clId="{2B38B4FD-65DD-4A51-94B9-E43CEF3DB6AD}" dt="2025-09-01T12:31:25.511" v="156" actId="13926"/>
          <ac:spMkLst>
            <pc:docMk/>
            <pc:sldMk cId="1825673581" sldId="261"/>
            <ac:spMk id="5123" creationId="{00000000-0000-0000-0000-000000000000}"/>
          </ac:spMkLst>
        </pc:spChg>
        <pc:picChg chg="add mod">
          <ac:chgData name="Shi-Chun Tsai" userId="8b66d61fc893c84c" providerId="LiveId" clId="{2B38B4FD-65DD-4A51-94B9-E43CEF3DB6AD}" dt="2025-09-01T12:28:58.959" v="100" actId="1076"/>
          <ac:picMkLst>
            <pc:docMk/>
            <pc:sldMk cId="1825673581" sldId="261"/>
            <ac:picMk id="5" creationId="{6B5B9161-3504-FFA4-A0F3-D37B3BB65CC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TW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zh-TW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TW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7BE758E-5DD5-4B7E-AFC9-5EFA681F7EBE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1526332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標楷體" pitchFamily="65" charset="-120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標楷體" pitchFamily="65" charset="-120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標楷體" pitchFamily="65" charset="-120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標楷體" pitchFamily="65" charset="-120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標楷體" pitchFamily="65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C564875-21EC-4F39-B769-E9B4DF665310}" type="slidenum">
              <a:rPr lang="en-US" altLang="zh-TW"/>
              <a:pPr/>
              <a:t>1</a:t>
            </a:fld>
            <a:endParaRPr lang="en-US" altLang="zh-TW"/>
          </a:p>
        </p:txBody>
      </p:sp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/>
              <a:t>Algorithm</a:t>
            </a:r>
            <a:r>
              <a:rPr lang="zh-TW" altLang="en-US"/>
              <a:t>在電腦計算中扮演什麼樣的角色</a:t>
            </a:r>
          </a:p>
        </p:txBody>
      </p:sp>
    </p:spTree>
    <p:extLst>
      <p:ext uri="{BB962C8B-B14F-4D97-AF65-F5344CB8AC3E}">
        <p14:creationId xmlns:p14="http://schemas.microsoft.com/office/powerpoint/2010/main" val="40306248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16A72F-7031-4388-B98D-2C6461668A70}" type="slidenum">
              <a:rPr lang="en-US" altLang="zh-TW"/>
              <a:pPr/>
              <a:t>2</a:t>
            </a:fld>
            <a:endParaRPr lang="en-US" altLang="zh-TW"/>
          </a:p>
        </p:txBody>
      </p:sp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排序</a:t>
            </a:r>
            <a:r>
              <a:rPr lang="en-US" altLang="zh-TW"/>
              <a:t>(Sorting)</a:t>
            </a:r>
            <a:r>
              <a:rPr lang="zh-TW" altLang="en-US"/>
              <a:t>是一個相當重要且基本的問題</a:t>
            </a:r>
          </a:p>
        </p:txBody>
      </p:sp>
    </p:spTree>
    <p:extLst>
      <p:ext uri="{BB962C8B-B14F-4D97-AF65-F5344CB8AC3E}">
        <p14:creationId xmlns:p14="http://schemas.microsoft.com/office/powerpoint/2010/main" val="15978922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16A72F-7031-4388-B98D-2C6461668A70}" type="slidenum">
              <a:rPr lang="en-US" altLang="zh-TW"/>
              <a:pPr/>
              <a:t>3</a:t>
            </a:fld>
            <a:endParaRPr lang="en-US" altLang="zh-TW"/>
          </a:p>
        </p:txBody>
      </p:sp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排序</a:t>
            </a:r>
            <a:r>
              <a:rPr lang="en-US" altLang="zh-TW"/>
              <a:t>(Sorting)</a:t>
            </a:r>
            <a:r>
              <a:rPr lang="zh-TW" altLang="en-US"/>
              <a:t>是一個相當重要且基本的問題</a:t>
            </a:r>
          </a:p>
        </p:txBody>
      </p:sp>
    </p:spTree>
    <p:extLst>
      <p:ext uri="{BB962C8B-B14F-4D97-AF65-F5344CB8AC3E}">
        <p14:creationId xmlns:p14="http://schemas.microsoft.com/office/powerpoint/2010/main" val="33370951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16A72F-7031-4388-B98D-2C6461668A70}" type="slidenum">
              <a:rPr lang="en-US" altLang="zh-TW"/>
              <a:pPr/>
              <a:t>4</a:t>
            </a:fld>
            <a:endParaRPr lang="en-US" altLang="zh-TW"/>
          </a:p>
        </p:txBody>
      </p:sp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排序</a:t>
            </a:r>
            <a:r>
              <a:rPr lang="en-US" altLang="zh-TW" dirty="0"/>
              <a:t>(Sorting)</a:t>
            </a:r>
            <a:r>
              <a:rPr lang="zh-TW" altLang="en-US" dirty="0"/>
              <a:t>是一個相當重要且基本的問題</a:t>
            </a:r>
          </a:p>
        </p:txBody>
      </p:sp>
    </p:spTree>
    <p:extLst>
      <p:ext uri="{BB962C8B-B14F-4D97-AF65-F5344CB8AC3E}">
        <p14:creationId xmlns:p14="http://schemas.microsoft.com/office/powerpoint/2010/main" val="34075910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16A72F-7031-4388-B98D-2C6461668A70}" type="slidenum">
              <a:rPr lang="en-US" altLang="zh-TW"/>
              <a:pPr/>
              <a:t>5</a:t>
            </a:fld>
            <a:endParaRPr lang="en-US" altLang="zh-TW"/>
          </a:p>
        </p:txBody>
      </p:sp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排序</a:t>
            </a:r>
            <a:r>
              <a:rPr lang="en-US" altLang="zh-TW" dirty="0"/>
              <a:t>(Sorting)</a:t>
            </a:r>
            <a:r>
              <a:rPr lang="zh-TW" altLang="en-US" dirty="0"/>
              <a:t>是一個相當重要且基本的問題</a:t>
            </a:r>
          </a:p>
        </p:txBody>
      </p:sp>
    </p:spTree>
    <p:extLst>
      <p:ext uri="{BB962C8B-B14F-4D97-AF65-F5344CB8AC3E}">
        <p14:creationId xmlns:p14="http://schemas.microsoft.com/office/powerpoint/2010/main" val="23301926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16A72F-7031-4388-B98D-2C6461668A70}" type="slidenum">
              <a:rPr lang="en-US" altLang="zh-TW"/>
              <a:pPr/>
              <a:t>6</a:t>
            </a:fld>
            <a:endParaRPr lang="en-US" altLang="zh-TW"/>
          </a:p>
        </p:txBody>
      </p:sp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排序</a:t>
            </a:r>
            <a:r>
              <a:rPr lang="en-US" altLang="zh-TW" dirty="0"/>
              <a:t>(Sorting)</a:t>
            </a:r>
            <a:r>
              <a:rPr lang="zh-TW" altLang="en-US" dirty="0"/>
              <a:t>是一個相當重要且基本的問題</a:t>
            </a:r>
          </a:p>
        </p:txBody>
      </p:sp>
    </p:spTree>
    <p:extLst>
      <p:ext uri="{BB962C8B-B14F-4D97-AF65-F5344CB8AC3E}">
        <p14:creationId xmlns:p14="http://schemas.microsoft.com/office/powerpoint/2010/main" val="7977117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Introduction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3B6781-B1B0-4B87-8E2D-CF3D7312F22D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43631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Introduction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4AFF12-ACEC-4185-A367-717320F840C5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1860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Introduction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A742A2-DC67-4998-AFA5-60EFA9E51B1E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60353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Introduction</a:t>
            </a: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A572B1-E39F-448D-94FE-DAB4FCD24CA7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3748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Introduction</a:t>
            </a: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E46126-96E1-40F0-9AEF-E0A74CD57ED8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02543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Introduction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394F37-9D78-444A-BD40-FA379154F6C6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82607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Introduction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C0910F-4798-468C-884E-C0A9072EBAFE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98630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Introduction</a:t>
            </a: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C7DB13-D854-4498-B269-07677DCD2B36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71794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Introduction</a:t>
            </a: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BE8DCA-ABF0-453E-B26E-40CFF8BDE8E7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76144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Introduction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B9067A-6AFC-4517-A6E8-B2B5935FEE2C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27236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Introduction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4CA91B-132E-4191-9493-D47E7213A73B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79303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TW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r>
              <a:rPr lang="en-US" altLang="zh-TW"/>
              <a:t>Introduction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0074D84-0507-4DDA-9B82-C2A70E922C32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標楷體" pitchFamily="65" charset="-120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標楷體" pitchFamily="65" charset="-120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標楷體" pitchFamily="65" charset="-120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標楷體" pitchFamily="65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標楷體" pitchFamily="65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標楷體" pitchFamily="65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標楷體" pitchFamily="65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標楷體" pitchFamily="65" charset="-12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.tw/imgres?imgurl=https://rukminim1.flixcart.com/image/704/704/book/8/4/8/introduction-to-algorithms-original-imadddghtzxgsh4t.jpeg?q%3D70&amp;imgrefurl=https://www.flipkart.com/introduction-algorithms-3rd/p/itmdwxyrafdburzg&amp;docid=p5FBWQjNfDuTPM&amp;tbnid=j2Mgn4uJC9UuoM:&amp;vet=10ahUKEwjEpNfqgJzWAhVIHZQKHcU9CdcQMwgjKAAwAA..i&amp;w=623&amp;h=704&amp;hl=zh-TW&amp;bih=553&amp;biw=1050&amp;q=corman%20algorithm&amp;ved=0ahUKEwjEpNfqgJzWAhVIHZQKHcU9CdcQMwgjKAAwAA&amp;iact=mrc&amp;uact=8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3p.nctu.edu.tw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://people.cs.nctu.edu.tw/~sctsai/algo/notes/Algorithm_2014_spring/FFT.pptx" TargetMode="External"/><Relationship Id="rId13" Type="http://schemas.openxmlformats.org/officeDocument/2006/relationships/hyperlink" Target="http://people.cs.nctu.edu.tw/~sctsai/algo/notes/Algorithm_2014_spring/HashTable.pptx" TargetMode="External"/><Relationship Id="rId18" Type="http://schemas.openxmlformats.org/officeDocument/2006/relationships/hyperlink" Target="http://people.cs.nctu.edu.tw/~sctsai/algo/notes/Algorithm_2014_spring/Btree.pptx" TargetMode="External"/><Relationship Id="rId3" Type="http://schemas.openxmlformats.org/officeDocument/2006/relationships/hyperlink" Target="http://people.cs.nctu.edu.tw/~sctsai/algo/notes/Algorithm_2014_spring/Introduction.pptx" TargetMode="External"/><Relationship Id="rId21" Type="http://schemas.openxmlformats.org/officeDocument/2006/relationships/hyperlink" Target="http://people.cs.nctu.edu.tw/~sctsai/algo/notes/Algorithm_2014_spring/ElementaryGraphAlgorithms.pptx" TargetMode="External"/><Relationship Id="rId7" Type="http://schemas.openxmlformats.org/officeDocument/2006/relationships/hyperlink" Target="http://people.cs.nctu.edu.tw/~sctsai/algo/notes/Algorithm_2014_spring/DivideAndConquer.pptx" TargetMode="External"/><Relationship Id="rId12" Type="http://schemas.openxmlformats.org/officeDocument/2006/relationships/hyperlink" Target="http://people.cs.nctu.edu.tw/~sctsai/algo/notes/Algorithm_2014_spring/MedianandOrderStatistics.pptx" TargetMode="External"/><Relationship Id="rId17" Type="http://schemas.openxmlformats.org/officeDocument/2006/relationships/hyperlink" Target="http://people.cs.nctu.edu.tw/~sctsai/algo/notes/Algorithm_2014_spring/Amortized.pptx" TargetMode="External"/><Relationship Id="rId25" Type="http://schemas.openxmlformats.org/officeDocument/2006/relationships/hyperlink" Target="http://people.cs.nctu.edu.tw/~sctsai/algo/notes/Algorithm_2014_spring/MaximumFlow.pptx" TargetMode="External"/><Relationship Id="rId2" Type="http://schemas.openxmlformats.org/officeDocument/2006/relationships/notesSlide" Target="../notesSlides/notesSlide4.xml"/><Relationship Id="rId16" Type="http://schemas.openxmlformats.org/officeDocument/2006/relationships/hyperlink" Target="http://people.cs.nctu.edu.tw/~sctsai/algo/notes/Algorithm_2014_spring/GreedyAlgorithms.pptx" TargetMode="External"/><Relationship Id="rId20" Type="http://schemas.openxmlformats.org/officeDocument/2006/relationships/hyperlink" Target="http://people.cs.nctu.edu.tw/~sctsai/algo/notes/Algorithm_2014_spring/DisjointSets.pptx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people.cs.nctu.edu.tw/~sctsai/algo/notes/Algorithm_2014_spring/Recurrences2.pptx" TargetMode="External"/><Relationship Id="rId11" Type="http://schemas.openxmlformats.org/officeDocument/2006/relationships/hyperlink" Target="http://people.cs.nctu.edu.tw/~sctsai/algo/notes/Algorithm_2014_spring/SortinginLinearTime.pptx" TargetMode="External"/><Relationship Id="rId24" Type="http://schemas.openxmlformats.org/officeDocument/2006/relationships/hyperlink" Target="http://people.cs.nctu.edu.tw/~sctsai/algo/notes/Algorithm_2014_spring/AllPairShortestPaths.pptx" TargetMode="External"/><Relationship Id="rId5" Type="http://schemas.openxmlformats.org/officeDocument/2006/relationships/hyperlink" Target="http://people.cs.nctu.edu.tw/~sctsai/algo/notes/Algorithm_2014_spring/GrowthofFunctions.pptx" TargetMode="External"/><Relationship Id="rId15" Type="http://schemas.openxmlformats.org/officeDocument/2006/relationships/hyperlink" Target="http://people.cs.nctu.edu.tw/~sctsai/algo/notes/Algorithm_2014_spring/DynamicProgramming.pptx" TargetMode="External"/><Relationship Id="rId23" Type="http://schemas.openxmlformats.org/officeDocument/2006/relationships/hyperlink" Target="http://people.cs.nctu.edu.tw/~sctsai/algo/notes/Algorithm_2014_spring/Single-SourceShortestPaths.pptx" TargetMode="External"/><Relationship Id="rId10" Type="http://schemas.openxmlformats.org/officeDocument/2006/relationships/hyperlink" Target="http://people.cs.nctu.edu.tw/~sctsai/algo/notes/Algorithm_2014_spring/Quicksort.pptx" TargetMode="External"/><Relationship Id="rId19" Type="http://schemas.openxmlformats.org/officeDocument/2006/relationships/hyperlink" Target="http://people.cs.nctu.edu.tw/~sctsai/algo/notes/Algorithm_2014_spring/FibonacciHeap.pptx" TargetMode="External"/><Relationship Id="rId4" Type="http://schemas.openxmlformats.org/officeDocument/2006/relationships/hyperlink" Target="http://people.cs.nctu.edu.tw/~sctsai/algo/notes/Algorithm_2014_spring/GettingStarted.pptx" TargetMode="External"/><Relationship Id="rId9" Type="http://schemas.openxmlformats.org/officeDocument/2006/relationships/hyperlink" Target="http://people.cs.nctu.edu.tw/~sctsai/algo/notes/Algorithm_2014_spring/Heapsort.pptx" TargetMode="External"/><Relationship Id="rId14" Type="http://schemas.openxmlformats.org/officeDocument/2006/relationships/hyperlink" Target="http://people.cs.nctu.edu.tw/~sctsai/algo/notes/Algorithm_2014_spring/Bloomfilter.pptx" TargetMode="External"/><Relationship Id="rId22" Type="http://schemas.openxmlformats.org/officeDocument/2006/relationships/hyperlink" Target="http://people.cs.nctu.edu.tw/~sctsai/algo/notes/Algorithm_2014_spring/MinimumSpanningTrees.pptx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844675"/>
            <a:ext cx="7774632" cy="2520429"/>
          </a:xfrm>
        </p:spPr>
        <p:txBody>
          <a:bodyPr/>
          <a:lstStyle/>
          <a:p>
            <a:r>
              <a:rPr lang="zh-TW" altLang="en-US" b="1" dirty="0"/>
              <a:t>演算法概論</a:t>
            </a:r>
            <a:br>
              <a:rPr lang="en-US" altLang="zh-TW" b="1" dirty="0"/>
            </a:br>
            <a:br>
              <a:rPr lang="en-US" altLang="zh-TW" b="1" dirty="0"/>
            </a:br>
            <a:r>
              <a:rPr lang="zh-TW" altLang="en-US" b="1" dirty="0"/>
              <a:t>蔡錫鈞</a:t>
            </a:r>
            <a:br>
              <a:rPr lang="en-US" altLang="zh-TW" b="1" dirty="0"/>
            </a:br>
            <a:br>
              <a:rPr lang="en-US" altLang="zh-TW" b="1" dirty="0"/>
            </a:br>
            <a:r>
              <a:rPr lang="zh-TW" altLang="en-US" b="1" dirty="0"/>
              <a:t>助教</a:t>
            </a:r>
            <a:r>
              <a:rPr lang="en-US" altLang="zh-TW" b="1" dirty="0"/>
              <a:t>:</a:t>
            </a:r>
            <a:br>
              <a:rPr lang="en-US" altLang="zh-TW" b="1" dirty="0"/>
            </a:br>
            <a:r>
              <a:rPr lang="zh-TW" altLang="en-US" b="1" dirty="0"/>
              <a:t>官霆軒</a:t>
            </a:r>
            <a:br>
              <a:rPr lang="en-US" altLang="zh-TW" b="1" dirty="0"/>
            </a:br>
            <a:br>
              <a:rPr lang="en-US" altLang="zh-TW" b="1" dirty="0"/>
            </a:br>
            <a:endParaRPr lang="en-US" altLang="zh-TW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Introduction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A6CCA-3E83-4C57-B9EE-79CD0A8D9A74}" type="slidenum">
              <a:rPr lang="en-US" altLang="zh-TW"/>
              <a:pPr/>
              <a:t>2</a:t>
            </a:fld>
            <a:endParaRPr lang="en-US" altLang="zh-TW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620713"/>
            <a:ext cx="8291513" cy="5505450"/>
          </a:xfrm>
        </p:spPr>
        <p:txBody>
          <a:bodyPr/>
          <a:lstStyle/>
          <a:p>
            <a:pPr marL="376238" indent="-376238">
              <a:buFontTx/>
              <a:buNone/>
            </a:pPr>
            <a:r>
              <a:rPr lang="zh-TW" altLang="en-US" b="1" dirty="0"/>
              <a:t>先修課程</a:t>
            </a:r>
            <a:r>
              <a:rPr lang="en-US" altLang="zh-TW" b="1" dirty="0"/>
              <a:t>:</a:t>
            </a:r>
          </a:p>
          <a:p>
            <a:pPr marL="376238" indent="-376238">
              <a:buFontTx/>
              <a:buNone/>
            </a:pPr>
            <a:r>
              <a:rPr lang="zh-TW" altLang="en-US" sz="2800" b="1" dirty="0">
                <a:latin typeface="Arial" charset="0"/>
              </a:rPr>
              <a:t>  程式設計，資料結構，離散數學</a:t>
            </a:r>
            <a:endParaRPr lang="en-US" altLang="zh-TW" sz="2800" b="1" dirty="0"/>
          </a:p>
          <a:p>
            <a:pPr marL="376238" indent="-376238">
              <a:buFontTx/>
              <a:buNone/>
            </a:pPr>
            <a:r>
              <a:rPr lang="zh-TW" altLang="en-US" sz="2800" b="1" dirty="0"/>
              <a:t>課本</a:t>
            </a:r>
            <a:r>
              <a:rPr lang="en-US" altLang="zh-TW" sz="2800" b="1" dirty="0"/>
              <a:t>:</a:t>
            </a:r>
          </a:p>
          <a:p>
            <a:pPr marL="376238" indent="-376238">
              <a:buFontTx/>
              <a:buNone/>
            </a:pPr>
            <a:r>
              <a:rPr lang="en-US" altLang="zh-TW" sz="2800" dirty="0" err="1"/>
              <a:t>Cormen</a:t>
            </a:r>
            <a:r>
              <a:rPr lang="en-US" altLang="zh-TW" sz="2800" dirty="0"/>
              <a:t>, </a:t>
            </a:r>
            <a:r>
              <a:rPr lang="en-US" altLang="zh-TW" sz="2800" dirty="0" err="1"/>
              <a:t>Leiserson</a:t>
            </a:r>
            <a:r>
              <a:rPr lang="en-US" altLang="zh-TW" sz="2800" dirty="0"/>
              <a:t>, Rivest and Stein, ``Introduction to Algorithms‘’, 3</a:t>
            </a:r>
            <a:r>
              <a:rPr lang="en-US" altLang="zh-TW" sz="2800" baseline="30000" dirty="0"/>
              <a:t>rd</a:t>
            </a:r>
            <a:r>
              <a:rPr lang="en-US" altLang="zh-TW" sz="2800" dirty="0"/>
              <a:t>  ed, 2009 or 4</a:t>
            </a:r>
            <a:r>
              <a:rPr lang="en-US" altLang="zh-TW" sz="2800" baseline="30000" dirty="0"/>
              <a:t>th</a:t>
            </a:r>
            <a:r>
              <a:rPr lang="en-US" altLang="zh-TW" sz="2800" dirty="0"/>
              <a:t> ed, 2022, MIT press.</a:t>
            </a:r>
            <a:r>
              <a:rPr lang="zh-TW" altLang="en-US" sz="2800" dirty="0"/>
              <a:t> </a:t>
            </a:r>
            <a:endParaRPr lang="en-US" altLang="zh-TW" sz="2800" dirty="0"/>
          </a:p>
          <a:p>
            <a:pPr marL="376238" indent="-376238">
              <a:buFontTx/>
              <a:buNone/>
            </a:pPr>
            <a:endParaRPr lang="en-US" altLang="zh-TW" sz="2800" b="1" dirty="0"/>
          </a:p>
          <a:p>
            <a:pPr marL="376238" indent="-376238">
              <a:buNone/>
            </a:pPr>
            <a:r>
              <a:rPr lang="en-US" altLang="zh-TW" sz="2800" u="sng" dirty="0">
                <a:solidFill>
                  <a:srgbClr val="DD4B39"/>
                </a:solidFill>
                <a:hlinkClick r:id="rId3"/>
              </a:rPr>
              <a:t> </a:t>
            </a:r>
          </a:p>
          <a:p>
            <a:pPr marL="376238" indent="-376238">
              <a:buFontTx/>
              <a:buNone/>
            </a:pPr>
            <a:endParaRPr lang="zh-TW" altLang="en-US" sz="2800" dirty="0"/>
          </a:p>
        </p:txBody>
      </p:sp>
      <p:sp>
        <p:nvSpPr>
          <p:cNvPr id="5" name="AutoShape 2" descr="「corman algorithm」的圖片搜尋結果"/>
          <p:cNvSpPr>
            <a:spLocks noChangeAspect="1" noChangeArrowheads="1"/>
          </p:cNvSpPr>
          <p:nvPr/>
        </p:nvSpPr>
        <p:spPr bwMode="auto">
          <a:xfrm>
            <a:off x="-3175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1027" y="3573016"/>
            <a:ext cx="2093646" cy="2248016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B26764C5-8377-5355-ED8E-A849A729BE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6096" y="3448833"/>
            <a:ext cx="1962251" cy="22480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Introduction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A6CCA-3E83-4C57-B9EE-79CD0A8D9A74}" type="slidenum">
              <a:rPr lang="en-US" altLang="zh-TW"/>
              <a:pPr/>
              <a:t>3</a:t>
            </a:fld>
            <a:endParaRPr lang="en-US" altLang="zh-TW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620713"/>
            <a:ext cx="8291513" cy="5505450"/>
          </a:xfrm>
        </p:spPr>
        <p:txBody>
          <a:bodyPr/>
          <a:lstStyle/>
          <a:p>
            <a:pPr marL="376238" indent="-376238">
              <a:buFontTx/>
              <a:buNone/>
            </a:pPr>
            <a:endParaRPr lang="en-US" altLang="zh-TW" sz="2800" b="1" dirty="0"/>
          </a:p>
          <a:p>
            <a:pPr marL="376238" indent="-376238">
              <a:buFontTx/>
              <a:buNone/>
            </a:pPr>
            <a:r>
              <a:rPr lang="zh-TW" altLang="en-US" b="1" dirty="0"/>
              <a:t>作業考試及評量</a:t>
            </a:r>
            <a:r>
              <a:rPr lang="en-US" altLang="zh-TW" b="1" dirty="0"/>
              <a:t>:</a:t>
            </a:r>
          </a:p>
          <a:p>
            <a:r>
              <a:rPr lang="zh-TW" altLang="en-US" sz="2800" dirty="0"/>
              <a:t>手寫作業 ，程式作業 </a:t>
            </a:r>
            <a:r>
              <a:rPr lang="en-US" altLang="zh-TW" sz="2800" dirty="0"/>
              <a:t>20% </a:t>
            </a:r>
            <a:r>
              <a:rPr lang="zh-TW" altLang="en-US" sz="2800" dirty="0"/>
              <a:t>每週</a:t>
            </a:r>
            <a:r>
              <a:rPr lang="en-US" altLang="zh-TW" sz="2800" dirty="0"/>
              <a:t>1-2</a:t>
            </a:r>
            <a:r>
              <a:rPr lang="zh-TW" altLang="en-US" sz="2800" dirty="0"/>
              <a:t>兩題程式題目，考試週除外</a:t>
            </a:r>
            <a:endParaRPr lang="en-US" altLang="zh-TW" sz="2800" dirty="0"/>
          </a:p>
          <a:p>
            <a:r>
              <a:rPr lang="zh-TW" altLang="en-US" sz="2800" dirty="0"/>
              <a:t>期中考 </a:t>
            </a:r>
            <a:r>
              <a:rPr lang="en-US" altLang="zh-TW" sz="2800" dirty="0"/>
              <a:t>25%</a:t>
            </a:r>
          </a:p>
          <a:p>
            <a:r>
              <a:rPr lang="zh-TW" altLang="en-US" sz="2800" dirty="0"/>
              <a:t>期末考 </a:t>
            </a:r>
            <a:r>
              <a:rPr lang="en-US" altLang="zh-TW" sz="2800" dirty="0"/>
              <a:t>30%</a:t>
            </a:r>
          </a:p>
          <a:p>
            <a:r>
              <a:rPr lang="zh-TW" altLang="en-US" sz="2800" dirty="0"/>
              <a:t>一至兩次上機考 </a:t>
            </a:r>
            <a:r>
              <a:rPr lang="en-US" altLang="zh-TW" sz="2800" dirty="0"/>
              <a:t>25%</a:t>
            </a:r>
            <a:endParaRPr lang="en-US" altLang="zh-TW" sz="2800" b="1" dirty="0"/>
          </a:p>
          <a:p>
            <a:pPr marL="376238" indent="-376238">
              <a:buFontTx/>
              <a:buNone/>
            </a:pPr>
            <a:r>
              <a:rPr lang="zh-TW" altLang="en-US" sz="2800" b="1" dirty="0"/>
              <a:t>程式上傳系統</a:t>
            </a:r>
            <a:r>
              <a:rPr lang="en-US" altLang="zh-TW" sz="2800" b="1" dirty="0"/>
              <a:t>:  https://nycu-oj.cs.nycu.edu.tw/</a:t>
            </a:r>
          </a:p>
          <a:p>
            <a:pPr marL="376238" indent="-376238">
              <a:buFontTx/>
              <a:buNone/>
            </a:pPr>
            <a:r>
              <a:rPr lang="en-US" altLang="zh-TW" sz="2800" b="1" dirty="0"/>
              <a:t>Moodle: </a:t>
            </a:r>
            <a:r>
              <a:rPr lang="en-US" altLang="zh-TW" sz="2800" b="1" dirty="0">
                <a:solidFill>
                  <a:srgbClr val="FF0000"/>
                </a:solidFill>
                <a:hlinkClick r:id="rId3"/>
              </a:rPr>
              <a:t>https://e3p.nctu.edu.tw</a:t>
            </a:r>
            <a:endParaRPr lang="en-US" altLang="zh-TW" sz="2800" b="1" dirty="0">
              <a:solidFill>
                <a:srgbClr val="FF0000"/>
              </a:solidFill>
            </a:endParaRPr>
          </a:p>
          <a:p>
            <a:pPr marL="376238" indent="-376238">
              <a:buFontTx/>
              <a:buNone/>
            </a:pPr>
            <a:endParaRPr lang="zh-TW" alt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3805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Introduction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A6CCA-3E83-4C57-B9EE-79CD0A8D9A74}" type="slidenum">
              <a:rPr lang="en-US" altLang="zh-TW"/>
              <a:pPr/>
              <a:t>4</a:t>
            </a:fld>
            <a:endParaRPr lang="en-US" altLang="zh-TW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88641"/>
            <a:ext cx="8579296" cy="5904656"/>
          </a:xfrm>
        </p:spPr>
        <p:txBody>
          <a:bodyPr/>
          <a:lstStyle/>
          <a:p>
            <a:pPr marL="376238" indent="-376238">
              <a:buFontTx/>
              <a:buNone/>
            </a:pPr>
            <a:r>
              <a:rPr lang="zh-TW" altLang="en-US" b="1" dirty="0"/>
              <a:t>授課內容</a:t>
            </a:r>
            <a:r>
              <a:rPr lang="en-US" altLang="zh-TW" b="1" dirty="0"/>
              <a:t>:</a:t>
            </a:r>
          </a:p>
          <a:p>
            <a:r>
              <a:rPr lang="en-US" altLang="zh-TW" sz="2400" dirty="0">
                <a:hlinkClick r:id="rId3"/>
              </a:rPr>
              <a:t>Introduction</a:t>
            </a:r>
            <a:r>
              <a:rPr lang="en-US" altLang="zh-TW" sz="2400" dirty="0"/>
              <a:t> </a:t>
            </a:r>
          </a:p>
          <a:p>
            <a:r>
              <a:rPr lang="en-US" altLang="zh-TW" sz="2400" dirty="0">
                <a:hlinkClick r:id="rId4"/>
              </a:rPr>
              <a:t>Getting Started</a:t>
            </a:r>
            <a:r>
              <a:rPr lang="en-US" altLang="zh-TW" sz="2400" dirty="0"/>
              <a:t> </a:t>
            </a:r>
          </a:p>
          <a:p>
            <a:r>
              <a:rPr lang="en-US" altLang="zh-TW" sz="2400" dirty="0">
                <a:hlinkClick r:id="rId5"/>
              </a:rPr>
              <a:t>Growth of Functions</a:t>
            </a:r>
            <a:r>
              <a:rPr lang="en-US" altLang="zh-TW" sz="2400" dirty="0"/>
              <a:t> </a:t>
            </a:r>
          </a:p>
          <a:p>
            <a:r>
              <a:rPr lang="en-US" altLang="zh-TW" sz="2400" dirty="0">
                <a:hlinkClick r:id="rId6"/>
              </a:rPr>
              <a:t>Recurrence</a:t>
            </a:r>
            <a:r>
              <a:rPr lang="en-US" altLang="zh-TW" sz="2400" dirty="0"/>
              <a:t> </a:t>
            </a:r>
          </a:p>
          <a:p>
            <a:r>
              <a:rPr lang="en-US" altLang="zh-TW" sz="2400" dirty="0">
                <a:hlinkClick r:id="rId7"/>
              </a:rPr>
              <a:t>More on Divide and Conquer</a:t>
            </a:r>
            <a:endParaRPr lang="en-US" altLang="zh-TW" sz="2400" dirty="0"/>
          </a:p>
          <a:p>
            <a:r>
              <a:rPr lang="en-US" altLang="zh-TW" sz="2400" dirty="0">
                <a:hlinkClick r:id="rId8"/>
              </a:rPr>
              <a:t>FFT</a:t>
            </a:r>
            <a:r>
              <a:rPr lang="en-US" altLang="zh-TW" sz="2400" dirty="0"/>
              <a:t>  </a:t>
            </a:r>
          </a:p>
          <a:p>
            <a:r>
              <a:rPr lang="en-US" altLang="zh-TW" sz="2400" dirty="0">
                <a:hlinkClick r:id="rId9"/>
              </a:rPr>
              <a:t>Heapsort</a:t>
            </a:r>
            <a:r>
              <a:rPr lang="en-US" altLang="zh-TW" sz="2400" dirty="0"/>
              <a:t> + segment tree </a:t>
            </a:r>
          </a:p>
          <a:p>
            <a:r>
              <a:rPr lang="en-US" altLang="zh-TW" sz="2400" dirty="0">
                <a:hlinkClick r:id="rId10"/>
              </a:rPr>
              <a:t>Quicksort</a:t>
            </a:r>
            <a:r>
              <a:rPr lang="en-US" altLang="zh-TW" sz="2400" dirty="0"/>
              <a:t> </a:t>
            </a:r>
          </a:p>
          <a:p>
            <a:r>
              <a:rPr lang="en-US" altLang="zh-TW" sz="2400" dirty="0">
                <a:hlinkClick r:id="rId11"/>
              </a:rPr>
              <a:t>Sorting in linear time</a:t>
            </a:r>
            <a:r>
              <a:rPr lang="en-US" altLang="zh-TW" sz="2400" dirty="0"/>
              <a:t> </a:t>
            </a:r>
          </a:p>
          <a:p>
            <a:r>
              <a:rPr lang="en-US" altLang="zh-TW" sz="2400" dirty="0">
                <a:hlinkClick r:id="rId12"/>
              </a:rPr>
              <a:t>Median Selection</a:t>
            </a:r>
            <a:r>
              <a:rPr lang="en-US" altLang="zh-TW" sz="2400" dirty="0"/>
              <a:t> </a:t>
            </a:r>
          </a:p>
          <a:p>
            <a:r>
              <a:rPr lang="en-US" altLang="zh-TW" sz="2400" dirty="0">
                <a:hlinkClick r:id="rId13"/>
              </a:rPr>
              <a:t>Hash Tables,  </a:t>
            </a:r>
            <a:r>
              <a:rPr lang="en-US" altLang="zh-TW" sz="2400" strike="sngStrike" dirty="0">
                <a:hlinkClick r:id="rId14"/>
              </a:rPr>
              <a:t>Bloom Filter</a:t>
            </a:r>
            <a:r>
              <a:rPr lang="en-US" altLang="zh-TW" sz="2400" strike="sngStrike" dirty="0"/>
              <a:t> </a:t>
            </a:r>
          </a:p>
          <a:p>
            <a:pPr marL="376238" indent="-376238">
              <a:buFontTx/>
              <a:buNone/>
            </a:pPr>
            <a:endParaRPr lang="en-US" altLang="zh-TW" b="1" dirty="0"/>
          </a:p>
        </p:txBody>
      </p:sp>
      <p:sp>
        <p:nvSpPr>
          <p:cNvPr id="2" name="文字方塊 1"/>
          <p:cNvSpPr txBox="1"/>
          <p:nvPr/>
        </p:nvSpPr>
        <p:spPr>
          <a:xfrm>
            <a:off x="4680992" y="836712"/>
            <a:ext cx="4283496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hlinkClick r:id="rId15"/>
              </a:rPr>
              <a:t>Dynamic Programming</a:t>
            </a:r>
            <a:r>
              <a:rPr lang="en-US" altLang="zh-TW" sz="24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hlinkClick r:id="rId16"/>
              </a:rPr>
              <a:t>Greedy Algorithms</a:t>
            </a:r>
            <a:r>
              <a:rPr lang="en-US" altLang="zh-TW" sz="24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hlinkClick r:id="rId17"/>
              </a:rPr>
              <a:t>Amortized Analysis</a:t>
            </a:r>
            <a:r>
              <a:rPr lang="en-US" altLang="zh-TW" sz="24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hlinkClick r:id="rId18"/>
              </a:rPr>
              <a:t>B-trees</a:t>
            </a:r>
            <a:r>
              <a:rPr lang="en-US" altLang="zh-TW" sz="2400" dirty="0"/>
              <a:t>,  </a:t>
            </a:r>
            <a:r>
              <a:rPr lang="en-US" altLang="zh-TW" sz="2400" dirty="0">
                <a:solidFill>
                  <a:srgbClr val="FF0000"/>
                </a:solidFill>
              </a:rPr>
              <a:t>Red</a:t>
            </a:r>
            <a:r>
              <a:rPr lang="en-US" altLang="zh-TW" sz="2400" dirty="0"/>
              <a:t>-Black </a:t>
            </a:r>
            <a:r>
              <a:rPr lang="en-US" altLang="zh-TW" sz="2400" dirty="0">
                <a:solidFill>
                  <a:srgbClr val="00B050"/>
                </a:solidFill>
              </a:rPr>
              <a:t>Tree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strike="sngStrike" dirty="0">
                <a:hlinkClick r:id="rId1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Fibonacci Heaps</a:t>
            </a:r>
            <a:r>
              <a:rPr lang="en-US" altLang="zh-TW" sz="2400" strike="sngStrike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hlinkClick r:id="rId20"/>
              </a:rPr>
              <a:t>Disjoint Set Operations</a:t>
            </a:r>
            <a:r>
              <a:rPr lang="en-US" altLang="zh-TW" sz="24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hlinkClick r:id="rId21"/>
              </a:rPr>
              <a:t>Elementary Graph algorithms</a:t>
            </a:r>
            <a:r>
              <a:rPr lang="en-US" altLang="zh-TW" sz="24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hlinkClick r:id="rId22"/>
              </a:rPr>
              <a:t>Minimum Spanning Tree</a:t>
            </a:r>
            <a:r>
              <a:rPr lang="en-US" altLang="zh-TW" sz="24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hlinkClick r:id="rId23"/>
              </a:rPr>
              <a:t>Single Source Shortest Path</a:t>
            </a:r>
            <a:r>
              <a:rPr lang="en-US" altLang="zh-TW" sz="24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hlinkClick r:id="rId24"/>
              </a:rPr>
              <a:t>All Pairs Shortest Paths</a:t>
            </a:r>
            <a:r>
              <a:rPr lang="en-US" altLang="zh-TW" sz="24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hlinkClick r:id="rId25"/>
              </a:rPr>
              <a:t>Maximum flow</a:t>
            </a:r>
            <a:r>
              <a:rPr lang="en-US" altLang="zh-TW" sz="2400" dirty="0"/>
              <a:t> related topics </a:t>
            </a:r>
          </a:p>
          <a:p>
            <a:pPr marL="342900" indent="-342900">
              <a:buFont typeface="Wingdings" panose="05000000000000000000" pitchFamily="2" charset="2"/>
              <a:buChar char="n"/>
            </a:pPr>
            <a:r>
              <a:rPr lang="en-US" altLang="zh-TW" sz="2400" dirty="0"/>
              <a:t>Linear Programming</a:t>
            </a:r>
            <a:r>
              <a:rPr lang="zh-TW" altLang="en-US" sz="2400" dirty="0"/>
              <a:t> </a:t>
            </a:r>
            <a:r>
              <a:rPr lang="en-US" altLang="zh-TW" dirty="0"/>
              <a:t>(</a:t>
            </a:r>
            <a:r>
              <a:rPr lang="en-US" altLang="zh-TW" dirty="0">
                <a:solidFill>
                  <a:srgbClr val="FF0000"/>
                </a:solidFill>
              </a:rPr>
              <a:t>Optional</a:t>
            </a:r>
            <a:r>
              <a:rPr lang="en-US" altLang="zh-TW" dirty="0"/>
              <a:t>)</a:t>
            </a:r>
          </a:p>
          <a:p>
            <a:pPr marL="342900" indent="-342900">
              <a:buFont typeface="Wingdings" panose="05000000000000000000" pitchFamily="2" charset="2"/>
              <a:buChar char="n"/>
            </a:pPr>
            <a:r>
              <a:rPr lang="en-US" altLang="zh-TW" sz="2400" dirty="0">
                <a:solidFill>
                  <a:srgbClr val="FF0000"/>
                </a:solidFill>
              </a:rPr>
              <a:t>Number-Theoretic Algorithms </a:t>
            </a:r>
            <a:endParaRPr lang="en-US" altLang="zh-TW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NP-complete, Approximation algorithms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7257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Introduction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A6CCA-3E83-4C57-B9EE-79CD0A8D9A74}" type="slidenum">
              <a:rPr lang="en-US" altLang="zh-TW"/>
              <a:pPr/>
              <a:t>5</a:t>
            </a:fld>
            <a:endParaRPr lang="en-US" altLang="zh-TW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620713"/>
            <a:ext cx="8291513" cy="5505450"/>
          </a:xfrm>
        </p:spPr>
        <p:txBody>
          <a:bodyPr/>
          <a:lstStyle/>
          <a:p>
            <a:pPr marL="376238" indent="-376238">
              <a:buFontTx/>
              <a:buNone/>
            </a:pPr>
            <a:r>
              <a:rPr lang="en-US" altLang="zh-TW" b="1" dirty="0"/>
              <a:t>Some Facts:</a:t>
            </a:r>
          </a:p>
          <a:p>
            <a:r>
              <a:rPr lang="en-US" altLang="zh-TW" sz="2800" dirty="0"/>
              <a:t>Some already know programming in high school</a:t>
            </a:r>
          </a:p>
          <a:p>
            <a:r>
              <a:rPr lang="en-US" altLang="zh-TW" sz="2800" dirty="0"/>
              <a:t>At least 1/3 of the CS major </a:t>
            </a:r>
            <a:r>
              <a:rPr lang="en-US" altLang="zh-TW" sz="2800" dirty="0">
                <a:solidFill>
                  <a:srgbClr val="FF0000"/>
                </a:solidFill>
              </a:rPr>
              <a:t>cannot</a:t>
            </a:r>
            <a:r>
              <a:rPr lang="en-US" altLang="zh-TW" sz="2800" dirty="0"/>
              <a:t> program effectively</a:t>
            </a:r>
          </a:p>
          <a:p>
            <a:r>
              <a:rPr lang="en-US" altLang="zh-TW" sz="2800" dirty="0"/>
              <a:t>10-15%  of the class may withdraw or fail this course</a:t>
            </a:r>
          </a:p>
          <a:p>
            <a:r>
              <a:rPr lang="en-US" altLang="zh-TW" sz="2800" dirty="0"/>
              <a:t>Need  </a:t>
            </a:r>
            <a:r>
              <a:rPr lang="en-US" altLang="zh-TW" sz="2800" dirty="0">
                <a:solidFill>
                  <a:srgbClr val="FF0000"/>
                </a:solidFill>
              </a:rPr>
              <a:t>&gt;= 6 hours </a:t>
            </a:r>
            <a:r>
              <a:rPr lang="en-US" altLang="zh-TW" sz="2800" dirty="0"/>
              <a:t>course work weekly to avoid it</a:t>
            </a:r>
          </a:p>
          <a:p>
            <a:r>
              <a:rPr lang="en-US" altLang="zh-TW" sz="2800" dirty="0"/>
              <a:t>Start programming assignment early</a:t>
            </a:r>
          </a:p>
          <a:p>
            <a:r>
              <a:rPr lang="en-US" altLang="zh-TW" sz="2800" dirty="0">
                <a:solidFill>
                  <a:srgbClr val="C00000"/>
                </a:solidFill>
              </a:rPr>
              <a:t>Plagiarism (</a:t>
            </a:r>
            <a:r>
              <a:rPr lang="zh-TW" altLang="en-US" sz="2800" dirty="0">
                <a:solidFill>
                  <a:srgbClr val="C00000"/>
                </a:solidFill>
              </a:rPr>
              <a:t>抄襲</a:t>
            </a:r>
            <a:r>
              <a:rPr lang="en-US" altLang="zh-TW" sz="2800" dirty="0">
                <a:solidFill>
                  <a:srgbClr val="C00000"/>
                </a:solidFill>
              </a:rPr>
              <a:t>)</a:t>
            </a:r>
            <a:r>
              <a:rPr lang="zh-TW" altLang="en-US" sz="2800" dirty="0">
                <a:solidFill>
                  <a:srgbClr val="C00000"/>
                </a:solidFill>
              </a:rPr>
              <a:t> </a:t>
            </a:r>
            <a:r>
              <a:rPr lang="en-US" altLang="zh-TW" sz="2800" dirty="0">
                <a:solidFill>
                  <a:srgbClr val="C00000"/>
                </a:solidFill>
              </a:rPr>
              <a:t>is a serious violation</a:t>
            </a:r>
          </a:p>
          <a:p>
            <a:r>
              <a:rPr lang="en-US" altLang="zh-TW" sz="2800" dirty="0">
                <a:solidFill>
                  <a:srgbClr val="C00000"/>
                </a:solidFill>
              </a:rPr>
              <a:t>You may discuss with </a:t>
            </a:r>
            <a:r>
              <a:rPr lang="en-US" altLang="zh-TW" sz="2800" dirty="0"/>
              <a:t>human or GPT </a:t>
            </a:r>
            <a:r>
              <a:rPr lang="en-US" altLang="zh-TW" sz="2800" dirty="0">
                <a:solidFill>
                  <a:srgbClr val="C00000"/>
                </a:solidFill>
              </a:rPr>
              <a:t>but write your own version!</a:t>
            </a:r>
          </a:p>
          <a:p>
            <a:r>
              <a:rPr lang="en-US" altLang="zh-TW" sz="2800" dirty="0">
                <a:solidFill>
                  <a:srgbClr val="C00000"/>
                </a:solidFill>
              </a:rPr>
              <a:t>AI is very good at writing and programming!</a:t>
            </a:r>
          </a:p>
          <a:p>
            <a:endParaRPr lang="en-US" altLang="zh-TW" sz="2800" dirty="0"/>
          </a:p>
          <a:p>
            <a:endParaRPr lang="en-US" altLang="zh-TW" sz="2800" dirty="0"/>
          </a:p>
          <a:p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320368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Introduction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A6CCA-3E83-4C57-B9EE-79CD0A8D9A74}" type="slidenum">
              <a:rPr lang="en-US" altLang="zh-TW"/>
              <a:pPr/>
              <a:t>6</a:t>
            </a:fld>
            <a:endParaRPr lang="en-US" altLang="zh-TW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620712"/>
            <a:ext cx="8363272" cy="5760615"/>
          </a:xfrm>
        </p:spPr>
        <p:txBody>
          <a:bodyPr/>
          <a:lstStyle/>
          <a:p>
            <a:pPr marL="376238" indent="-376238">
              <a:buFontTx/>
              <a:buNone/>
            </a:pPr>
            <a:r>
              <a:rPr lang="en-US" altLang="zh-TW" b="1" dirty="0"/>
              <a:t>Some Open Sources: </a:t>
            </a:r>
            <a:r>
              <a:rPr lang="zh-TW" altLang="en-US" b="1" dirty="0"/>
              <a:t>練習題目來源</a:t>
            </a:r>
            <a:endParaRPr lang="en-US" altLang="zh-TW" b="1" dirty="0"/>
          </a:p>
          <a:p>
            <a:pPr marL="376238" indent="-376238">
              <a:buFontTx/>
              <a:buNone/>
            </a:pPr>
            <a:endParaRPr lang="en-US" altLang="zh-TW" b="1" dirty="0"/>
          </a:p>
          <a:p>
            <a:r>
              <a:rPr lang="en-US" altLang="zh-TW" sz="2800" dirty="0" err="1">
                <a:highlight>
                  <a:srgbClr val="FFFF00"/>
                </a:highlight>
              </a:rPr>
              <a:t>LeetCode</a:t>
            </a:r>
            <a:r>
              <a:rPr lang="en-US" altLang="zh-TW" sz="2800" dirty="0">
                <a:highlight>
                  <a:srgbClr val="FFFF00"/>
                </a:highlight>
              </a:rPr>
              <a:t>: </a:t>
            </a:r>
            <a:r>
              <a:rPr lang="zh-TW" altLang="en-US" sz="2800" dirty="0">
                <a:highlight>
                  <a:srgbClr val="FFFF00"/>
                </a:highlight>
              </a:rPr>
              <a:t>線上程式練習競賽平台，每週日都有線上比賽。每日提供一題練習題，適合練習</a:t>
            </a:r>
            <a:endParaRPr lang="en-US" altLang="zh-TW" sz="2800" dirty="0">
              <a:highlight>
                <a:srgbClr val="FFFF00"/>
              </a:highlight>
            </a:endParaRPr>
          </a:p>
          <a:p>
            <a:r>
              <a:rPr lang="en-US" altLang="zh-TW" sz="2800" dirty="0" err="1"/>
              <a:t>Codeforces</a:t>
            </a:r>
            <a:r>
              <a:rPr lang="en-US" altLang="zh-TW" sz="2800" dirty="0"/>
              <a:t>: </a:t>
            </a:r>
            <a:r>
              <a:rPr lang="en-US" altLang="zh-TW" dirty="0"/>
              <a:t>https://codeforces.com</a:t>
            </a:r>
            <a:endParaRPr lang="en-US" altLang="zh-TW" sz="2800" dirty="0"/>
          </a:p>
          <a:p>
            <a:r>
              <a:rPr lang="en-US" altLang="zh-TW" sz="2800" strike="sngStrike" dirty="0"/>
              <a:t>Code Jam: Google </a:t>
            </a:r>
            <a:r>
              <a:rPr lang="zh-TW" altLang="en-US" sz="2800" strike="sngStrike" dirty="0"/>
              <a:t>舉辦</a:t>
            </a:r>
            <a:endParaRPr lang="en-US" altLang="zh-TW" sz="2800" strike="sngStrike" dirty="0"/>
          </a:p>
          <a:p>
            <a:r>
              <a:rPr lang="en-US" altLang="zh-TW" sz="2800" dirty="0"/>
              <a:t>ICPC world final, and regional contests</a:t>
            </a:r>
          </a:p>
          <a:p>
            <a:r>
              <a:rPr lang="en-US" altLang="zh-TW" sz="2800" dirty="0"/>
              <a:t>IOI:</a:t>
            </a:r>
            <a:r>
              <a:rPr lang="zh-TW" altLang="en-US" sz="2800" dirty="0"/>
              <a:t> 資訊奧林匹亞</a:t>
            </a:r>
            <a:endParaRPr lang="en-US" altLang="zh-TW" sz="2800" dirty="0"/>
          </a:p>
          <a:p>
            <a:r>
              <a:rPr lang="en-US" altLang="zh-TW" sz="2800" dirty="0"/>
              <a:t>NCPC:</a:t>
            </a:r>
            <a:r>
              <a:rPr lang="zh-TW" altLang="en-US" sz="2800" dirty="0"/>
              <a:t> 教育部大專程式競賽</a:t>
            </a:r>
            <a:endParaRPr lang="en-US" altLang="zh-TW" sz="2800" dirty="0"/>
          </a:p>
          <a:p>
            <a:r>
              <a:rPr lang="en-US" altLang="zh-TW" sz="2800" dirty="0"/>
              <a:t>…………</a:t>
            </a:r>
          </a:p>
          <a:p>
            <a:pPr marL="0" indent="0">
              <a:buNone/>
            </a:pPr>
            <a:endParaRPr lang="en-US" altLang="zh-TW" sz="2800" dirty="0"/>
          </a:p>
          <a:p>
            <a:endParaRPr lang="en-US" altLang="zh-TW" sz="2800" dirty="0"/>
          </a:p>
          <a:p>
            <a:pPr marL="0" indent="0">
              <a:buNone/>
            </a:pPr>
            <a:endParaRPr lang="en-US" altLang="zh-TW" sz="2800" dirty="0"/>
          </a:p>
          <a:p>
            <a:endParaRPr lang="en-US" altLang="zh-TW" sz="2800" dirty="0"/>
          </a:p>
          <a:p>
            <a:endParaRPr lang="en-US" altLang="zh-TW" sz="2800" dirty="0"/>
          </a:p>
          <a:p>
            <a:endParaRPr lang="zh-TW" altLang="en-US" sz="2800" dirty="0"/>
          </a:p>
        </p:txBody>
      </p:sp>
      <p:pic>
        <p:nvPicPr>
          <p:cNvPr id="5" name="圖片 4" descr="一張含有 文字, 螢幕擷取畫面, 行 的圖片&#10;&#10;自動產生的描述">
            <a:extLst>
              <a:ext uri="{FF2B5EF4-FFF2-40B4-BE49-F238E27FC236}">
                <a16:creationId xmlns:a16="http://schemas.microsoft.com/office/drawing/2014/main" id="{6B5B9161-3504-FFA4-A0F3-D37B3BB65C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4787" y="456069"/>
            <a:ext cx="2055685" cy="123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673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4236</TotalTime>
  <Words>422</Words>
  <Application>Microsoft Office PowerPoint</Application>
  <PresentationFormat>如螢幕大小 (4:3)</PresentationFormat>
  <Paragraphs>86</Paragraphs>
  <Slides>6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0" baseType="lpstr">
      <vt:lpstr>Arial</vt:lpstr>
      <vt:lpstr>Times New Roman</vt:lpstr>
      <vt:lpstr>Wingdings</vt:lpstr>
      <vt:lpstr>預設簡報設計</vt:lpstr>
      <vt:lpstr>演算法概論  蔡錫鈞  助教: 官霆軒  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陳氏家族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role of Algorithms in Computing</dc:title>
  <dc:creator>littlejohn</dc:creator>
  <cp:lastModifiedBy>蔡錫鈞</cp:lastModifiedBy>
  <cp:revision>104</cp:revision>
  <dcterms:created xsi:type="dcterms:W3CDTF">2005-07-04T06:10:20Z</dcterms:created>
  <dcterms:modified xsi:type="dcterms:W3CDTF">2025-09-01T12:32:20Z</dcterms:modified>
</cp:coreProperties>
</file>