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290" r:id="rId3"/>
    <p:sldId id="258" r:id="rId4"/>
    <p:sldId id="291" r:id="rId5"/>
    <p:sldId id="263" r:id="rId6"/>
    <p:sldId id="283" r:id="rId7"/>
    <p:sldId id="264" r:id="rId8"/>
    <p:sldId id="289" r:id="rId9"/>
    <p:sldId id="293" r:id="rId10"/>
    <p:sldId id="292" r:id="rId11"/>
    <p:sldId id="272" r:id="rId12"/>
    <p:sldId id="284" r:id="rId13"/>
    <p:sldId id="285" r:id="rId14"/>
    <p:sldId id="286" r:id="rId15"/>
    <p:sldId id="287" r:id="rId16"/>
    <p:sldId id="288" r:id="rId17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B96C20-97A4-487F-AF6A-CA6F1BF0230A}" v="44" dt="2023-09-11T15:38:11.8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6964" autoAdjust="0"/>
  </p:normalViewPr>
  <p:slideViewPr>
    <p:cSldViewPr>
      <p:cViewPr varScale="1">
        <p:scale>
          <a:sx n="55" d="100"/>
          <a:sy n="55" d="100"/>
        </p:scale>
        <p:origin x="1600" y="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66" d="100"/>
          <a:sy n="66" d="100"/>
        </p:scale>
        <p:origin x="-936" y="-1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tsai@nycu.edu.tw" userId="8b66d61fc893c84c" providerId="LiveId" clId="{3DB96C20-97A4-487F-AF6A-CA6F1BF0230A}"/>
    <pc:docChg chg="custSel addSld modSld">
      <pc:chgData name="sctsai@nycu.edu.tw" userId="8b66d61fc893c84c" providerId="LiveId" clId="{3DB96C20-97A4-487F-AF6A-CA6F1BF0230A}" dt="2023-09-11T15:38:11.847" v="149" actId="14100"/>
      <pc:docMkLst>
        <pc:docMk/>
      </pc:docMkLst>
      <pc:sldChg chg="addSp delSp modSp new mod modAnim">
        <pc:chgData name="sctsai@nycu.edu.tw" userId="8b66d61fc893c84c" providerId="LiveId" clId="{3DB96C20-97A4-487F-AF6A-CA6F1BF0230A}" dt="2023-09-11T15:38:11.847" v="149" actId="14100"/>
        <pc:sldMkLst>
          <pc:docMk/>
          <pc:sldMk cId="1129979950" sldId="293"/>
        </pc:sldMkLst>
        <pc:spChg chg="mod">
          <ac:chgData name="sctsai@nycu.edu.tw" userId="8b66d61fc893c84c" providerId="LiveId" clId="{3DB96C20-97A4-487F-AF6A-CA6F1BF0230A}" dt="2023-09-11T15:37:40.482" v="148" actId="20577"/>
          <ac:spMkLst>
            <pc:docMk/>
            <pc:sldMk cId="1129979950" sldId="293"/>
            <ac:spMk id="2" creationId="{4624C6A1-C1BF-1E58-17E2-B19B3A37CA8A}"/>
          </ac:spMkLst>
        </pc:spChg>
        <pc:spChg chg="add del mod">
          <ac:chgData name="sctsai@nycu.edu.tw" userId="8b66d61fc893c84c" providerId="LiveId" clId="{3DB96C20-97A4-487F-AF6A-CA6F1BF0230A}" dt="2023-09-11T15:38:11.847" v="149" actId="14100"/>
          <ac:spMkLst>
            <pc:docMk/>
            <pc:sldMk cId="1129979950" sldId="293"/>
            <ac:spMk id="3" creationId="{404099A1-0519-E16F-C970-4FF760EF9FE5}"/>
          </ac:spMkLst>
        </pc:spChg>
        <pc:spChg chg="add del">
          <ac:chgData name="sctsai@nycu.edu.tw" userId="8b66d61fc893c84c" providerId="LiveId" clId="{3DB96C20-97A4-487F-AF6A-CA6F1BF0230A}" dt="2023-09-11T15:28:55.434" v="35"/>
          <ac:spMkLst>
            <pc:docMk/>
            <pc:sldMk cId="1129979950" sldId="293"/>
            <ac:spMk id="6" creationId="{4B34D412-0C31-6A52-1985-1E36EB859208}"/>
          </ac:spMkLst>
        </pc:spChg>
        <pc:spChg chg="add del mod">
          <ac:chgData name="sctsai@nycu.edu.tw" userId="8b66d61fc893c84c" providerId="LiveId" clId="{3DB96C20-97A4-487F-AF6A-CA6F1BF0230A}" dt="2023-09-11T15:29:49.548" v="47"/>
          <ac:spMkLst>
            <pc:docMk/>
            <pc:sldMk cId="1129979950" sldId="293"/>
            <ac:spMk id="7" creationId="{D5B0E289-643C-FBE0-1DA3-875B63E476A6}"/>
          </ac:spMkLst>
        </pc:spChg>
        <pc:spChg chg="add mod">
          <ac:chgData name="sctsai@nycu.edu.tw" userId="8b66d61fc893c84c" providerId="LiveId" clId="{3DB96C20-97A4-487F-AF6A-CA6F1BF0230A}" dt="2023-09-11T15:37:01.423" v="135" actId="208"/>
          <ac:spMkLst>
            <pc:docMk/>
            <pc:sldMk cId="1129979950" sldId="293"/>
            <ac:spMk id="8" creationId="{3B6DE081-34F6-AEAA-6E9D-3E7E5B951A4A}"/>
          </ac:spMkLst>
        </pc:spChg>
        <pc:spChg chg="add del">
          <ac:chgData name="sctsai@nycu.edu.tw" userId="8b66d61fc893c84c" providerId="LiveId" clId="{3DB96C20-97A4-487F-AF6A-CA6F1BF0230A}" dt="2023-09-11T15:35:31.823" v="121"/>
          <ac:spMkLst>
            <pc:docMk/>
            <pc:sldMk cId="1129979950" sldId="293"/>
            <ac:spMk id="9" creationId="{55E8C160-A090-895F-12A9-02B98E13749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TW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TW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TW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CFB81A1-4A34-40F9-A8D4-B48D1CBCA7E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83560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6B3F3BD-CC92-4501-BBD7-C170213C1A1D}" type="slidenum">
              <a:rPr lang="en-US" altLang="zh-TW"/>
              <a:pPr/>
              <a:t>1</a:t>
            </a:fld>
            <a:endParaRPr lang="en-US" altLang="zh-TW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介紹兩個簡單的排序法，然後比較優劣</a:t>
            </a:r>
          </a:p>
        </p:txBody>
      </p:sp>
    </p:spTree>
    <p:extLst>
      <p:ext uri="{BB962C8B-B14F-4D97-AF65-F5344CB8AC3E}">
        <p14:creationId xmlns:p14="http://schemas.microsoft.com/office/powerpoint/2010/main" val="41919411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312A1AE-E5EB-443C-8F8D-B54126201186}" type="slidenum">
              <a:rPr lang="en-US" altLang="zh-TW"/>
              <a:pPr/>
              <a:t>2</a:t>
            </a:fld>
            <a:endParaRPr lang="en-US" altLang="zh-TW"/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從左到右掃瞄一遍，掃到某個數字的時候，</a:t>
            </a:r>
          </a:p>
          <a:p>
            <a:r>
              <a:rPr lang="zh-TW" altLang="en-US"/>
              <a:t>就從那個數字往左檢查，插入適當的位置。</a:t>
            </a:r>
          </a:p>
        </p:txBody>
      </p:sp>
    </p:spTree>
    <p:extLst>
      <p:ext uri="{BB962C8B-B14F-4D97-AF65-F5344CB8AC3E}">
        <p14:creationId xmlns:p14="http://schemas.microsoft.com/office/powerpoint/2010/main" val="336287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B0ECC4-514F-4617-9D43-B7F9B9C9D5FF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760728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366AD8-4ECD-47BC-9645-A4CF8709B604}" type="slidenum">
              <a:rPr lang="en-US" altLang="zh-TW"/>
              <a:pPr/>
              <a:t>5</a:t>
            </a:fld>
            <a:endParaRPr lang="en-US" altLang="zh-TW"/>
          </a:p>
        </p:txBody>
      </p:sp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最好的情況是當輸入已經排序好的時候，花的時間跟 </a:t>
            </a:r>
            <a:r>
              <a:rPr lang="en-US" altLang="zh-TW" i="1"/>
              <a:t>n</a:t>
            </a:r>
            <a:r>
              <a:rPr lang="en-US" altLang="zh-TW"/>
              <a:t> </a:t>
            </a:r>
            <a:r>
              <a:rPr lang="zh-TW" altLang="en-US"/>
              <a:t>成正比，</a:t>
            </a:r>
          </a:p>
          <a:p>
            <a:r>
              <a:rPr lang="zh-TW" altLang="en-US"/>
              <a:t>最壞的情況則是輸入與最後排序的結果相反，需要花的時間跟 </a:t>
            </a:r>
            <a:r>
              <a:rPr lang="en-US" altLang="zh-TW" i="1"/>
              <a:t>n</a:t>
            </a:r>
            <a:r>
              <a:rPr lang="en-US" altLang="zh-TW" baseline="30000"/>
              <a:t>2</a:t>
            </a:r>
            <a:r>
              <a:rPr lang="en-US" altLang="zh-TW"/>
              <a:t> </a:t>
            </a:r>
            <a:r>
              <a:rPr lang="zh-TW" altLang="en-US"/>
              <a:t>成正比。</a:t>
            </a:r>
          </a:p>
        </p:txBody>
      </p:sp>
    </p:spTree>
    <p:extLst>
      <p:ext uri="{BB962C8B-B14F-4D97-AF65-F5344CB8AC3E}">
        <p14:creationId xmlns:p14="http://schemas.microsoft.com/office/powerpoint/2010/main" val="2916505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D2F5E6-0E93-41F8-8196-EB502405AA84}" type="slidenum">
              <a:rPr lang="en-US" altLang="zh-TW"/>
              <a:pPr/>
              <a:t>6</a:t>
            </a:fld>
            <a:endParaRPr lang="en-US" altLang="zh-TW"/>
          </a:p>
        </p:txBody>
      </p:sp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平均而言，</a:t>
            </a:r>
            <a:r>
              <a:rPr lang="en-US" altLang="zh-TW"/>
              <a:t>insertion sort </a:t>
            </a:r>
            <a:r>
              <a:rPr lang="zh-TW" altLang="en-US"/>
              <a:t>所需要的時間與 </a:t>
            </a:r>
            <a:r>
              <a:rPr lang="en-US" altLang="zh-TW" i="1"/>
              <a:t>n</a:t>
            </a:r>
            <a:r>
              <a:rPr lang="en-US" altLang="zh-TW" baseline="30000"/>
              <a:t>2</a:t>
            </a:r>
            <a:r>
              <a:rPr lang="en-US" altLang="zh-TW"/>
              <a:t> </a:t>
            </a:r>
            <a:r>
              <a:rPr lang="zh-TW" altLang="en-US"/>
              <a:t>成正比。</a:t>
            </a:r>
          </a:p>
          <a:p>
            <a:r>
              <a:rPr lang="zh-TW" altLang="en-US"/>
              <a:t>依照機率來看，當數字 </a:t>
            </a:r>
            <a:r>
              <a:rPr lang="en-US" altLang="zh-TW" i="1"/>
              <a:t>t</a:t>
            </a:r>
            <a:r>
              <a:rPr lang="en-US" altLang="zh-TW" i="1" baseline="-25000"/>
              <a:t>j</a:t>
            </a:r>
            <a:r>
              <a:rPr lang="en-US" altLang="zh-TW"/>
              <a:t> </a:t>
            </a:r>
            <a:r>
              <a:rPr lang="zh-TW" altLang="en-US"/>
              <a:t>往前檢查的時候，平均會往前跨 </a:t>
            </a:r>
            <a:r>
              <a:rPr lang="en-US" altLang="zh-TW" i="1"/>
              <a:t>j</a:t>
            </a:r>
            <a:r>
              <a:rPr lang="en-US" altLang="zh-TW"/>
              <a:t>/2 </a:t>
            </a:r>
            <a:r>
              <a:rPr lang="zh-TW" altLang="en-US"/>
              <a:t>步才會停下來</a:t>
            </a:r>
          </a:p>
          <a:p>
            <a:r>
              <a:rPr lang="zh-TW" altLang="en-US"/>
              <a:t>最好的時候一步就停，最慘的情況則是 </a:t>
            </a:r>
            <a:r>
              <a:rPr lang="en-US" altLang="zh-TW" i="1"/>
              <a:t>j</a:t>
            </a:r>
            <a:r>
              <a:rPr lang="en-US" altLang="zh-TW"/>
              <a:t> </a:t>
            </a:r>
            <a:r>
              <a:rPr lang="zh-TW" altLang="en-US"/>
              <a:t>步才會停。</a:t>
            </a:r>
          </a:p>
        </p:txBody>
      </p:sp>
    </p:spTree>
    <p:extLst>
      <p:ext uri="{BB962C8B-B14F-4D97-AF65-F5344CB8AC3E}">
        <p14:creationId xmlns:p14="http://schemas.microsoft.com/office/powerpoint/2010/main" val="4010684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F0283FF-D935-4497-8F81-71274B2A1677}" type="slidenum">
              <a:rPr lang="en-US" altLang="zh-TW"/>
              <a:pPr/>
              <a:t>8</a:t>
            </a:fld>
            <a:endParaRPr lang="en-US" altLang="zh-TW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Merge sort </a:t>
            </a:r>
            <a:r>
              <a:rPr lang="zh-TW" altLang="en-US"/>
              <a:t>是 </a:t>
            </a:r>
            <a:r>
              <a:rPr lang="en-US" altLang="zh-TW"/>
              <a:t>divide-and-conquer </a:t>
            </a:r>
            <a:r>
              <a:rPr lang="zh-TW" altLang="en-US"/>
              <a:t>的經典範例</a:t>
            </a:r>
          </a:p>
          <a:p>
            <a:r>
              <a:rPr lang="zh-TW" altLang="en-US"/>
              <a:t>要排序一堆數字，會先切成好幾段小數字直到切成一個數字為止</a:t>
            </a:r>
          </a:p>
          <a:p>
            <a:r>
              <a:rPr lang="zh-TW" altLang="en-US"/>
              <a:t>然後再合併答案</a:t>
            </a:r>
            <a:r>
              <a:rPr lang="en-US" altLang="zh-TW"/>
              <a:t>(Merge)</a:t>
            </a:r>
            <a:r>
              <a:rPr lang="zh-TW" altLang="en-US"/>
              <a:t>，把小問題的解合成大問題的解。</a:t>
            </a:r>
          </a:p>
        </p:txBody>
      </p:sp>
    </p:spTree>
    <p:extLst>
      <p:ext uri="{BB962C8B-B14F-4D97-AF65-F5344CB8AC3E}">
        <p14:creationId xmlns:p14="http://schemas.microsoft.com/office/powerpoint/2010/main" val="14385354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569D43-E2D9-4CA9-ACBD-655AA11D6131}" type="slidenum">
              <a:rPr lang="en-US" altLang="zh-TW"/>
              <a:pPr/>
              <a:t>10</a:t>
            </a:fld>
            <a:endParaRPr lang="en-US" altLang="zh-TW"/>
          </a:p>
        </p:txBody>
      </p:sp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最底層排序好的長度是</a:t>
            </a:r>
            <a:r>
              <a:rPr lang="en-US" altLang="zh-TW"/>
              <a:t>1(</a:t>
            </a:r>
            <a:r>
              <a:rPr lang="zh-TW" altLang="en-US"/>
              <a:t>我們會有一堆長度是</a:t>
            </a:r>
            <a:r>
              <a:rPr lang="en-US" altLang="zh-TW"/>
              <a:t>1</a:t>
            </a:r>
            <a:r>
              <a:rPr lang="zh-TW" altLang="en-US"/>
              <a:t>的排序好的數列</a:t>
            </a:r>
            <a:r>
              <a:rPr lang="en-US" altLang="zh-TW"/>
              <a:t>)</a:t>
            </a:r>
          </a:p>
          <a:p>
            <a:r>
              <a:rPr lang="zh-TW" altLang="en-US"/>
              <a:t>倒數第二層排序好的長度是</a:t>
            </a:r>
            <a:r>
              <a:rPr lang="en-US" altLang="zh-TW"/>
              <a:t>2(</a:t>
            </a:r>
            <a:r>
              <a:rPr lang="zh-TW" altLang="en-US"/>
              <a:t>我們會有一堆長度是</a:t>
            </a:r>
            <a:r>
              <a:rPr lang="en-US" altLang="zh-TW"/>
              <a:t>2</a:t>
            </a:r>
            <a:r>
              <a:rPr lang="zh-TW" altLang="en-US"/>
              <a:t>的排序好的數列</a:t>
            </a:r>
            <a:r>
              <a:rPr lang="en-US" altLang="zh-TW"/>
              <a:t>)</a:t>
            </a:r>
          </a:p>
          <a:p>
            <a:r>
              <a:rPr lang="zh-TW" altLang="en-US"/>
              <a:t>倒數第 </a:t>
            </a:r>
            <a:r>
              <a:rPr lang="en-US" altLang="zh-TW"/>
              <a:t>k </a:t>
            </a:r>
            <a:r>
              <a:rPr lang="zh-TW" altLang="en-US"/>
              <a:t>層排序好的長度是 </a:t>
            </a:r>
            <a:r>
              <a:rPr lang="en-US" altLang="zh-TW"/>
              <a:t>2</a:t>
            </a:r>
            <a:r>
              <a:rPr lang="en-US" altLang="zh-TW" baseline="30000"/>
              <a:t>k</a:t>
            </a:r>
            <a:endParaRPr lang="en-US" altLang="zh-TW"/>
          </a:p>
          <a:p>
            <a:r>
              <a:rPr lang="zh-TW" altLang="en-US"/>
              <a:t>以此類推，假設有 </a:t>
            </a:r>
            <a:r>
              <a:rPr lang="en-US" altLang="zh-TW" i="1"/>
              <a:t>n</a:t>
            </a:r>
            <a:r>
              <a:rPr lang="en-US" altLang="zh-TW"/>
              <a:t> </a:t>
            </a:r>
            <a:r>
              <a:rPr lang="zh-TW" altLang="en-US"/>
              <a:t>個數字，</a:t>
            </a:r>
            <a:r>
              <a:rPr lang="en-US" altLang="zh-TW"/>
              <a:t>merge log(n)</a:t>
            </a:r>
            <a:r>
              <a:rPr lang="zh-TW" altLang="en-US"/>
              <a:t>層就會結束了</a:t>
            </a:r>
          </a:p>
        </p:txBody>
      </p:sp>
    </p:spTree>
    <p:extLst>
      <p:ext uri="{BB962C8B-B14F-4D97-AF65-F5344CB8AC3E}">
        <p14:creationId xmlns:p14="http://schemas.microsoft.com/office/powerpoint/2010/main" val="23055223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C61DDB9-CD35-4D76-ADF0-EABC8488A14E}" type="slidenum">
              <a:rPr lang="en-US" altLang="zh-TW"/>
              <a:pPr/>
              <a:t>11</a:t>
            </a:fld>
            <a:endParaRPr lang="en-US" altLang="zh-TW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第第三章會教到</a:t>
            </a:r>
            <a:r>
              <a:rPr lang="zh-TW" altLang="en-US">
                <a:sym typeface="Symbol" pitchFamily="18" charset="2"/>
              </a:rPr>
              <a:t></a:t>
            </a:r>
            <a:r>
              <a:rPr lang="zh-TW" altLang="en-US"/>
              <a:t>以及其他符號的定義，</a:t>
            </a:r>
          </a:p>
          <a:p>
            <a:r>
              <a:rPr lang="zh-TW" altLang="en-US"/>
              <a:t>在第四章會教到如何分析</a:t>
            </a:r>
            <a:r>
              <a:rPr lang="en-US" altLang="zh-TW"/>
              <a:t>recurrence</a:t>
            </a:r>
            <a:r>
              <a:rPr lang="zh-TW" altLang="en-US"/>
              <a:t>得到</a:t>
            </a:r>
            <a:r>
              <a:rPr lang="en-US" altLang="zh-TW"/>
              <a:t>T(n)= </a:t>
            </a:r>
            <a:r>
              <a:rPr lang="en-US" altLang="zh-TW">
                <a:sym typeface="Symbol" pitchFamily="18" charset="2"/>
              </a:rPr>
              <a:t></a:t>
            </a:r>
            <a:r>
              <a:rPr lang="en-US" altLang="zh-TW"/>
              <a:t>(</a:t>
            </a:r>
            <a:r>
              <a:rPr lang="en-US" altLang="zh-TW" i="1"/>
              <a:t>n</a:t>
            </a:r>
            <a:r>
              <a:rPr lang="en-US" altLang="zh-TW"/>
              <a:t>log </a:t>
            </a:r>
            <a:r>
              <a:rPr lang="en-US" altLang="zh-TW" i="1"/>
              <a:t>n</a:t>
            </a:r>
            <a:r>
              <a:rPr lang="en-US" altLang="zh-TW"/>
              <a:t>)</a:t>
            </a:r>
            <a:r>
              <a:rPr lang="zh-TW" altLang="en-US"/>
              <a:t>的結果</a:t>
            </a:r>
          </a:p>
        </p:txBody>
      </p:sp>
    </p:spTree>
    <p:extLst>
      <p:ext uri="{BB962C8B-B14F-4D97-AF65-F5344CB8AC3E}">
        <p14:creationId xmlns:p14="http://schemas.microsoft.com/office/powerpoint/2010/main" val="21974817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5E5088-B9F6-4E5B-96D2-F80A45207CDD}" type="slidenum">
              <a:rPr lang="en-US" altLang="zh-TW"/>
              <a:pPr/>
              <a:t>12</a:t>
            </a:fld>
            <a:endParaRPr lang="en-US" altLang="zh-TW"/>
          </a:p>
        </p:txBody>
      </p:sp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4076576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1B7385-B274-4D83-9C0B-5372BA172B5C}" type="slidenum">
              <a:rPr lang="en-US" altLang="zh-TW"/>
              <a:pPr/>
              <a:t>13</a:t>
            </a:fld>
            <a:endParaRPr lang="en-US" altLang="zh-TW"/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8118658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1B0F2D-A1FC-4244-8D5A-2BFE1ADC94CB}" type="slidenum">
              <a:rPr lang="en-US" altLang="zh-TW"/>
              <a:pPr/>
              <a:t>14</a:t>
            </a:fld>
            <a:endParaRPr lang="en-US" altLang="zh-TW"/>
          </a:p>
        </p:txBody>
      </p:sp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7927678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3F0316-E29F-42FC-B682-9FBC2F828CAC}" type="slidenum">
              <a:rPr lang="en-US" altLang="zh-TW"/>
              <a:pPr/>
              <a:t>15</a:t>
            </a:fld>
            <a:endParaRPr lang="en-US" altLang="zh-TW"/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3140723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B6C852-97F8-4401-9BD7-136560F9D754}" type="slidenum">
              <a:rPr lang="en-US" altLang="zh-TW"/>
              <a:pPr/>
              <a:t>16</a:t>
            </a:fld>
            <a:endParaRPr lang="en-US" altLang="zh-TW"/>
          </a:p>
        </p:txBody>
      </p:sp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971658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Getting Started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D82DFB-19E1-46BC-90D7-7F8989E724F5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67285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Getting Started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50F8F7-4C06-4B5A-A711-51DD125CBB2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47669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Getting Started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177CF1-B1A7-4ED5-A5E8-BF4B3BB95603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49279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Getting Started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AD79B2-1914-4E27-B67D-80895D1F5543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2526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Getting Started</a:t>
            </a: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90C091-F29A-43CC-9819-B2536A28C1E2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27986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Getting Started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4B9DA1-2559-4F67-974A-7CDDA5090671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24400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Getting Started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3CEFB9-190F-42ED-9C74-AC621A9583A1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42518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Getting Started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55EA45-C0AD-4940-9A2D-419686FF253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10531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Getting Started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E0DF58-4721-4EF9-81F1-01EB075B412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93945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Getting Started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30A5A5-DF63-4A90-AE30-760E7E0A8BB2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6967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Getting Started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21D4CD-6726-405F-83B6-F72C931DBFF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000384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標題，文字及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日期版面配置區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頁尾版面配置區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Getting Started</a:t>
            </a: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9D337DF-2EE8-416F-8DB9-4C254E77C27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94957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US" altLang="zh-TW"/>
              <a:t>Getting Started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AA4AC7A-A779-479C-875D-A820C98C212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標楷體" pitchFamily="65" charset="-120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標楷體" pitchFamily="65" charset="-120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標楷體" pitchFamily="65" charset="-120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標楷體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標楷體" pitchFamily="65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標楷體" pitchFamily="65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標楷體" pitchFamily="65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標楷體" pitchFamily="65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844675"/>
            <a:ext cx="7772400" cy="2232397"/>
          </a:xfrm>
        </p:spPr>
        <p:txBody>
          <a:bodyPr/>
          <a:lstStyle/>
          <a:p>
            <a:r>
              <a:rPr lang="en-US" altLang="zh-TW" b="1" dirty="0"/>
              <a:t>Getting Started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Getting Started</a:t>
            </a:r>
          </a:p>
        </p:txBody>
      </p:sp>
      <p:sp>
        <p:nvSpPr>
          <p:cNvPr id="21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92162-6D03-4C89-B7D5-79437BFE0016}" type="slidenum">
              <a:rPr lang="en-US" altLang="zh-TW"/>
              <a:pPr/>
              <a:t>2</a:t>
            </a:fld>
            <a:endParaRPr lang="en-US" altLang="zh-TW"/>
          </a:p>
        </p:txBody>
      </p:sp>
      <p:sp>
        <p:nvSpPr>
          <p:cNvPr id="99340" name="Oval 12"/>
          <p:cNvSpPr>
            <a:spLocks noChangeArrowheads="1"/>
          </p:cNvSpPr>
          <p:nvPr/>
        </p:nvSpPr>
        <p:spPr bwMode="auto">
          <a:xfrm>
            <a:off x="3635375" y="2349500"/>
            <a:ext cx="431800" cy="4318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99341" name="Oval 13"/>
          <p:cNvSpPr>
            <a:spLocks noChangeArrowheads="1"/>
          </p:cNvSpPr>
          <p:nvPr/>
        </p:nvSpPr>
        <p:spPr bwMode="auto">
          <a:xfrm>
            <a:off x="4643438" y="2997200"/>
            <a:ext cx="431800" cy="4318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99342" name="Oval 14"/>
          <p:cNvSpPr>
            <a:spLocks noChangeArrowheads="1"/>
          </p:cNvSpPr>
          <p:nvPr/>
        </p:nvSpPr>
        <p:spPr bwMode="auto">
          <a:xfrm>
            <a:off x="5724525" y="3716338"/>
            <a:ext cx="431800" cy="4318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99343" name="Oval 15"/>
          <p:cNvSpPr>
            <a:spLocks noChangeArrowheads="1"/>
          </p:cNvSpPr>
          <p:nvPr/>
        </p:nvSpPr>
        <p:spPr bwMode="auto">
          <a:xfrm>
            <a:off x="6804025" y="4437063"/>
            <a:ext cx="431800" cy="4318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99339" name="Oval 11"/>
          <p:cNvSpPr>
            <a:spLocks noChangeArrowheads="1"/>
          </p:cNvSpPr>
          <p:nvPr/>
        </p:nvSpPr>
        <p:spPr bwMode="auto">
          <a:xfrm>
            <a:off x="2555875" y="1628775"/>
            <a:ext cx="431800" cy="4318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993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620713"/>
            <a:ext cx="8291513" cy="1223962"/>
          </a:xfrm>
        </p:spPr>
        <p:txBody>
          <a:bodyPr/>
          <a:lstStyle/>
          <a:p>
            <a:pPr marL="476250" indent="-476250">
              <a:buFontTx/>
              <a:buNone/>
            </a:pPr>
            <a:r>
              <a:rPr lang="en-US" altLang="zh-TW" sz="2800"/>
              <a:t>2.1 Insertion Sort: </a:t>
            </a:r>
            <a:r>
              <a:rPr lang="zh-TW" altLang="en-US" sz="2800"/>
              <a:t>能有效率地排序小數字的演算法</a:t>
            </a:r>
          </a:p>
          <a:p>
            <a:pPr marL="476250" indent="-476250">
              <a:buFontTx/>
              <a:buNone/>
            </a:pPr>
            <a:r>
              <a:rPr lang="zh-TW" altLang="en-US" sz="2800"/>
              <a:t>範例</a:t>
            </a:r>
            <a:r>
              <a:rPr lang="en-US" altLang="zh-TW" sz="2800"/>
              <a:t>:</a:t>
            </a:r>
          </a:p>
          <a:p>
            <a:pPr marL="476250" indent="-476250">
              <a:buFontTx/>
              <a:buNone/>
            </a:pPr>
            <a:endParaRPr lang="en-US" altLang="zh-TW" sz="2800"/>
          </a:p>
        </p:txBody>
      </p:sp>
      <p:sp>
        <p:nvSpPr>
          <p:cNvPr id="99331" name="Rectangle 3"/>
          <p:cNvSpPr>
            <a:spLocks noChangeArrowheads="1"/>
          </p:cNvSpPr>
          <p:nvPr/>
        </p:nvSpPr>
        <p:spPr bwMode="auto">
          <a:xfrm>
            <a:off x="1428750" y="1023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TW" altLang="en-US"/>
          </a:p>
        </p:txBody>
      </p:sp>
      <p:sp>
        <p:nvSpPr>
          <p:cNvPr id="99333" name="Text Box 5"/>
          <p:cNvSpPr txBox="1">
            <a:spLocks noChangeArrowheads="1"/>
          </p:cNvSpPr>
          <p:nvPr/>
        </p:nvSpPr>
        <p:spPr bwMode="auto">
          <a:xfrm>
            <a:off x="1547813" y="1628775"/>
            <a:ext cx="5616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dist"/>
            <a:r>
              <a:rPr lang="en-US" altLang="zh-TW" sz="2400"/>
              <a:t>524613</a:t>
            </a:r>
          </a:p>
        </p:txBody>
      </p:sp>
      <p:sp>
        <p:nvSpPr>
          <p:cNvPr id="99334" name="Text Box 6"/>
          <p:cNvSpPr txBox="1">
            <a:spLocks noChangeArrowheads="1"/>
          </p:cNvSpPr>
          <p:nvPr/>
        </p:nvSpPr>
        <p:spPr bwMode="auto">
          <a:xfrm>
            <a:off x="1547813" y="2349500"/>
            <a:ext cx="5616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dist"/>
            <a:r>
              <a:rPr lang="en-US" altLang="zh-TW" sz="2400"/>
              <a:t>254613</a:t>
            </a:r>
          </a:p>
        </p:txBody>
      </p:sp>
      <p:sp>
        <p:nvSpPr>
          <p:cNvPr id="99335" name="Text Box 7"/>
          <p:cNvSpPr txBox="1">
            <a:spLocks noChangeArrowheads="1"/>
          </p:cNvSpPr>
          <p:nvPr/>
        </p:nvSpPr>
        <p:spPr bwMode="auto">
          <a:xfrm>
            <a:off x="1547813" y="2997200"/>
            <a:ext cx="5616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dist"/>
            <a:r>
              <a:rPr lang="en-US" altLang="zh-TW" sz="2400"/>
              <a:t>245613</a:t>
            </a:r>
          </a:p>
        </p:txBody>
      </p:sp>
      <p:sp>
        <p:nvSpPr>
          <p:cNvPr id="99336" name="Text Box 8"/>
          <p:cNvSpPr txBox="1">
            <a:spLocks noChangeArrowheads="1"/>
          </p:cNvSpPr>
          <p:nvPr/>
        </p:nvSpPr>
        <p:spPr bwMode="auto">
          <a:xfrm>
            <a:off x="1547813" y="3716338"/>
            <a:ext cx="5616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dist"/>
            <a:r>
              <a:rPr lang="en-US" altLang="zh-TW" sz="2400"/>
              <a:t>245613</a:t>
            </a:r>
          </a:p>
        </p:txBody>
      </p:sp>
      <p:sp>
        <p:nvSpPr>
          <p:cNvPr id="99337" name="Text Box 9"/>
          <p:cNvSpPr txBox="1">
            <a:spLocks noChangeArrowheads="1"/>
          </p:cNvSpPr>
          <p:nvPr/>
        </p:nvSpPr>
        <p:spPr bwMode="auto">
          <a:xfrm>
            <a:off x="1547813" y="4437063"/>
            <a:ext cx="5616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dist"/>
            <a:r>
              <a:rPr lang="en-US" altLang="zh-TW" sz="2400"/>
              <a:t>124563</a:t>
            </a:r>
          </a:p>
        </p:txBody>
      </p:sp>
      <p:sp>
        <p:nvSpPr>
          <p:cNvPr id="99338" name="Text Box 10"/>
          <p:cNvSpPr txBox="1">
            <a:spLocks noChangeArrowheads="1"/>
          </p:cNvSpPr>
          <p:nvPr/>
        </p:nvSpPr>
        <p:spPr bwMode="auto">
          <a:xfrm>
            <a:off x="1547813" y="5157788"/>
            <a:ext cx="5616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dist"/>
            <a:r>
              <a:rPr lang="en-US" altLang="zh-TW" sz="2400"/>
              <a:t>123456</a:t>
            </a:r>
          </a:p>
        </p:txBody>
      </p:sp>
      <p:sp>
        <p:nvSpPr>
          <p:cNvPr id="99350" name="Freeform 22"/>
          <p:cNvSpPr>
            <a:spLocks/>
          </p:cNvSpPr>
          <p:nvPr/>
        </p:nvSpPr>
        <p:spPr bwMode="auto">
          <a:xfrm>
            <a:off x="1476375" y="2060575"/>
            <a:ext cx="1295400" cy="144463"/>
          </a:xfrm>
          <a:custGeom>
            <a:avLst/>
            <a:gdLst>
              <a:gd name="T0" fmla="*/ 816 w 816"/>
              <a:gd name="T1" fmla="*/ 0 h 91"/>
              <a:gd name="T2" fmla="*/ 226 w 816"/>
              <a:gd name="T3" fmla="*/ 91 h 91"/>
              <a:gd name="T4" fmla="*/ 0 w 816"/>
              <a:gd name="T5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16" h="91">
                <a:moveTo>
                  <a:pt x="816" y="0"/>
                </a:moveTo>
                <a:cubicBezTo>
                  <a:pt x="589" y="45"/>
                  <a:pt x="362" y="91"/>
                  <a:pt x="226" y="91"/>
                </a:cubicBezTo>
                <a:cubicBezTo>
                  <a:pt x="90" y="91"/>
                  <a:pt x="38" y="15"/>
                  <a:pt x="0" y="0"/>
                </a:cubicBezTo>
              </a:path>
            </a:pathLst>
          </a:custGeom>
          <a:noFill/>
          <a:ln w="9525">
            <a:solidFill>
              <a:srgbClr val="0000FF"/>
            </a:solidFill>
            <a:round/>
            <a:headEnd type="none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9351" name="Freeform 23"/>
          <p:cNvSpPr>
            <a:spLocks/>
          </p:cNvSpPr>
          <p:nvPr/>
        </p:nvSpPr>
        <p:spPr bwMode="auto">
          <a:xfrm>
            <a:off x="2484438" y="2781300"/>
            <a:ext cx="1295400" cy="144463"/>
          </a:xfrm>
          <a:custGeom>
            <a:avLst/>
            <a:gdLst>
              <a:gd name="T0" fmla="*/ 816 w 816"/>
              <a:gd name="T1" fmla="*/ 0 h 91"/>
              <a:gd name="T2" fmla="*/ 226 w 816"/>
              <a:gd name="T3" fmla="*/ 91 h 91"/>
              <a:gd name="T4" fmla="*/ 0 w 816"/>
              <a:gd name="T5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16" h="91">
                <a:moveTo>
                  <a:pt x="816" y="0"/>
                </a:moveTo>
                <a:cubicBezTo>
                  <a:pt x="589" y="45"/>
                  <a:pt x="362" y="91"/>
                  <a:pt x="226" y="91"/>
                </a:cubicBezTo>
                <a:cubicBezTo>
                  <a:pt x="90" y="91"/>
                  <a:pt x="38" y="15"/>
                  <a:pt x="0" y="0"/>
                </a:cubicBezTo>
              </a:path>
            </a:pathLst>
          </a:custGeom>
          <a:noFill/>
          <a:ln w="9525">
            <a:solidFill>
              <a:srgbClr val="0000FF"/>
            </a:solidFill>
            <a:round/>
            <a:headEnd type="none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9352" name="Freeform 24"/>
          <p:cNvSpPr>
            <a:spLocks/>
          </p:cNvSpPr>
          <p:nvPr/>
        </p:nvSpPr>
        <p:spPr bwMode="auto">
          <a:xfrm>
            <a:off x="4284663" y="3429000"/>
            <a:ext cx="574675" cy="144463"/>
          </a:xfrm>
          <a:custGeom>
            <a:avLst/>
            <a:gdLst>
              <a:gd name="T0" fmla="*/ 816 w 816"/>
              <a:gd name="T1" fmla="*/ 0 h 91"/>
              <a:gd name="T2" fmla="*/ 226 w 816"/>
              <a:gd name="T3" fmla="*/ 91 h 91"/>
              <a:gd name="T4" fmla="*/ 0 w 816"/>
              <a:gd name="T5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16" h="91">
                <a:moveTo>
                  <a:pt x="816" y="0"/>
                </a:moveTo>
                <a:cubicBezTo>
                  <a:pt x="589" y="45"/>
                  <a:pt x="362" y="91"/>
                  <a:pt x="226" y="91"/>
                </a:cubicBezTo>
                <a:cubicBezTo>
                  <a:pt x="90" y="91"/>
                  <a:pt x="38" y="15"/>
                  <a:pt x="0" y="0"/>
                </a:cubicBezTo>
              </a:path>
            </a:pathLst>
          </a:custGeom>
          <a:noFill/>
          <a:ln w="9525">
            <a:solidFill>
              <a:srgbClr val="0000FF"/>
            </a:solidFill>
            <a:round/>
            <a:headEnd type="none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9353" name="Freeform 25"/>
          <p:cNvSpPr>
            <a:spLocks/>
          </p:cNvSpPr>
          <p:nvPr/>
        </p:nvSpPr>
        <p:spPr bwMode="auto">
          <a:xfrm>
            <a:off x="1403350" y="4149725"/>
            <a:ext cx="4535488" cy="288925"/>
          </a:xfrm>
          <a:custGeom>
            <a:avLst/>
            <a:gdLst>
              <a:gd name="T0" fmla="*/ 816 w 816"/>
              <a:gd name="T1" fmla="*/ 0 h 91"/>
              <a:gd name="T2" fmla="*/ 226 w 816"/>
              <a:gd name="T3" fmla="*/ 91 h 91"/>
              <a:gd name="T4" fmla="*/ 0 w 816"/>
              <a:gd name="T5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16" h="91">
                <a:moveTo>
                  <a:pt x="816" y="0"/>
                </a:moveTo>
                <a:cubicBezTo>
                  <a:pt x="589" y="45"/>
                  <a:pt x="362" y="91"/>
                  <a:pt x="226" y="91"/>
                </a:cubicBezTo>
                <a:cubicBezTo>
                  <a:pt x="90" y="91"/>
                  <a:pt x="38" y="15"/>
                  <a:pt x="0" y="0"/>
                </a:cubicBezTo>
              </a:path>
            </a:pathLst>
          </a:custGeom>
          <a:noFill/>
          <a:ln w="9525">
            <a:solidFill>
              <a:srgbClr val="0000FF"/>
            </a:solidFill>
            <a:round/>
            <a:headEnd type="none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9354" name="Freeform 26"/>
          <p:cNvSpPr>
            <a:spLocks/>
          </p:cNvSpPr>
          <p:nvPr/>
        </p:nvSpPr>
        <p:spPr bwMode="auto">
          <a:xfrm>
            <a:off x="3419475" y="4868863"/>
            <a:ext cx="3527425" cy="144462"/>
          </a:xfrm>
          <a:custGeom>
            <a:avLst/>
            <a:gdLst>
              <a:gd name="T0" fmla="*/ 816 w 816"/>
              <a:gd name="T1" fmla="*/ 0 h 91"/>
              <a:gd name="T2" fmla="*/ 226 w 816"/>
              <a:gd name="T3" fmla="*/ 91 h 91"/>
              <a:gd name="T4" fmla="*/ 0 w 816"/>
              <a:gd name="T5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16" h="91">
                <a:moveTo>
                  <a:pt x="816" y="0"/>
                </a:moveTo>
                <a:cubicBezTo>
                  <a:pt x="589" y="45"/>
                  <a:pt x="362" y="91"/>
                  <a:pt x="226" y="91"/>
                </a:cubicBezTo>
                <a:cubicBezTo>
                  <a:pt x="90" y="91"/>
                  <a:pt x="38" y="15"/>
                  <a:pt x="0" y="0"/>
                </a:cubicBezTo>
              </a:path>
            </a:pathLst>
          </a:custGeom>
          <a:noFill/>
          <a:ln w="9525">
            <a:solidFill>
              <a:srgbClr val="0000FF"/>
            </a:solidFill>
            <a:round/>
            <a:headEnd type="none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Getting Started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F31C3-FE95-4A10-A981-15028FF85EE8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49275"/>
            <a:ext cx="8291513" cy="5699125"/>
          </a:xfrm>
        </p:spPr>
        <p:txBody>
          <a:bodyPr/>
          <a:lstStyle/>
          <a:p>
            <a:pPr marL="609600" indent="-609600">
              <a:buClr>
                <a:schemeClr val="tx1"/>
              </a:buClr>
              <a:buFontTx/>
              <a:buNone/>
            </a:pPr>
            <a:r>
              <a:rPr lang="en-US" altLang="zh-TW" b="1">
                <a:cs typeface="Arial" charset="0"/>
              </a:rPr>
              <a:t>2.2 Analyzing Algorithms</a:t>
            </a:r>
            <a:endParaRPr lang="en-US" altLang="zh-TW"/>
          </a:p>
          <a:p>
            <a:pPr marL="609600" indent="-609600">
              <a:buClr>
                <a:schemeClr val="tx1"/>
              </a:buClr>
              <a:buFontTx/>
              <a:buNone/>
            </a:pPr>
            <a:r>
              <a:rPr lang="en-US" altLang="zh-TW" b="1">
                <a:cs typeface="Arial" charset="0"/>
              </a:rPr>
              <a:t> </a:t>
            </a:r>
            <a:endParaRPr lang="en-US" altLang="zh-TW" sz="2800"/>
          </a:p>
          <a:p>
            <a:pPr marL="609600" indent="-609600">
              <a:buClr>
                <a:schemeClr val="tx1"/>
              </a:buClr>
              <a:buFontTx/>
              <a:buNone/>
            </a:pPr>
            <a:r>
              <a:rPr lang="en-US" altLang="zh-TW" sz="2800" b="1" i="1">
                <a:cs typeface="Arial" charset="0"/>
              </a:rPr>
              <a:t>RAM</a:t>
            </a:r>
            <a:r>
              <a:rPr lang="en-US" altLang="zh-TW" sz="2800" b="1">
                <a:cs typeface="Arial" charset="0"/>
              </a:rPr>
              <a:t>:</a:t>
            </a:r>
            <a:r>
              <a:rPr lang="en-US" altLang="zh-TW" sz="2800" i="1">
                <a:cs typeface="Arial" charset="0"/>
              </a:rPr>
              <a:t> Random-access machine</a:t>
            </a:r>
            <a:r>
              <a:rPr lang="en-US" altLang="zh-TW" sz="2800">
                <a:cs typeface="Arial" charset="0"/>
              </a:rPr>
              <a:t>, </a:t>
            </a:r>
            <a:r>
              <a:rPr lang="zh-TW" altLang="en-US" sz="2800"/>
              <a:t>在此機器上執行記憶體存取只需一單位的時間，且指令是依序一個一個執行。</a:t>
            </a:r>
          </a:p>
          <a:p>
            <a:pPr marL="609600" indent="-609600">
              <a:buClr>
                <a:schemeClr val="tx1"/>
              </a:buClr>
              <a:buFontTx/>
              <a:buNone/>
            </a:pPr>
            <a:r>
              <a:rPr lang="zh-TW" altLang="en-US" sz="2800">
                <a:cs typeface="Arial" charset="0"/>
              </a:rPr>
              <a:t> </a:t>
            </a:r>
            <a:endParaRPr lang="zh-TW" altLang="en-US" sz="2800"/>
          </a:p>
          <a:p>
            <a:pPr marL="609600" indent="-609600">
              <a:buClr>
                <a:schemeClr val="tx1"/>
              </a:buClr>
              <a:buFontTx/>
              <a:buNone/>
            </a:pPr>
            <a:r>
              <a:rPr lang="en-US" altLang="zh-TW" sz="2800" b="1" i="1">
                <a:cs typeface="Arial" charset="0"/>
              </a:rPr>
              <a:t>Running time</a:t>
            </a:r>
            <a:r>
              <a:rPr lang="en-US" altLang="zh-TW" sz="2800" b="1">
                <a:cs typeface="Arial" charset="0"/>
              </a:rPr>
              <a:t>:</a:t>
            </a:r>
            <a:r>
              <a:rPr lang="en-US" altLang="zh-TW" sz="2800">
                <a:cs typeface="Arial" charset="0"/>
              </a:rPr>
              <a:t> </a:t>
            </a:r>
            <a:r>
              <a:rPr lang="zh-TW" altLang="en-US" sz="2800"/>
              <a:t>執行的步驟的總數量，以 </a:t>
            </a:r>
            <a:r>
              <a:rPr lang="en-US" altLang="zh-TW" sz="2800" b="1" i="1">
                <a:cs typeface="Arial" charset="0"/>
              </a:rPr>
              <a:t>input size</a:t>
            </a:r>
            <a:r>
              <a:rPr lang="en-US" altLang="zh-TW" sz="2800">
                <a:cs typeface="Arial" charset="0"/>
              </a:rPr>
              <a:t> </a:t>
            </a:r>
            <a:r>
              <a:rPr lang="zh-TW" altLang="en-US" sz="2800"/>
              <a:t>的函數來表示之。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頁尾版面配置區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Getting Started</a:t>
            </a:r>
          </a:p>
        </p:txBody>
      </p:sp>
      <p:sp>
        <p:nvSpPr>
          <p:cNvPr id="11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97B4-A07E-4310-9B35-60D552C7ECAD}" type="slidenum">
              <a:rPr lang="en-US" altLang="zh-TW"/>
              <a:pPr/>
              <a:t>4</a:t>
            </a:fld>
            <a:endParaRPr lang="en-US" altLang="zh-TW"/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620713"/>
            <a:ext cx="8147050" cy="5505450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zh-TW" altLang="en-US" sz="2800" b="1"/>
              <a:t>範例</a:t>
            </a:r>
            <a:r>
              <a:rPr lang="en-US" altLang="zh-TW" sz="2800" b="1"/>
              <a:t>: </a:t>
            </a:r>
            <a:r>
              <a:rPr lang="en-US" altLang="zh-TW" sz="2800"/>
              <a:t>Insertion Sort</a:t>
            </a:r>
            <a:endParaRPr lang="en-US" altLang="zh-TW" sz="2800" b="1"/>
          </a:p>
          <a:p>
            <a:pPr>
              <a:lnSpc>
                <a:spcPct val="90000"/>
              </a:lnSpc>
              <a:buClr>
                <a:schemeClr val="tx1"/>
              </a:buClr>
              <a:buFontTx/>
              <a:buNone/>
            </a:pPr>
            <a:endParaRPr lang="en-US" altLang="zh-TW" sz="2000"/>
          </a:p>
          <a:p>
            <a:pPr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zh-TW" sz="2000">
                <a:latin typeface="Courier New" pitchFamily="49" charset="0"/>
              </a:rPr>
              <a:t>	Insertion-Sort(</a:t>
            </a:r>
            <a:r>
              <a:rPr lang="en-US" altLang="zh-TW" sz="2000" i="1">
                <a:latin typeface="Courier New" pitchFamily="49" charset="0"/>
              </a:rPr>
              <a:t>A</a:t>
            </a:r>
            <a:r>
              <a:rPr lang="en-US" altLang="zh-TW" sz="2000">
                <a:latin typeface="Courier New" pitchFamily="49" charset="0"/>
              </a:rPr>
              <a:t>)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zh-TW" sz="2000">
                <a:latin typeface="Courier New" pitchFamily="49" charset="0"/>
              </a:rPr>
              <a:t>	1 </a:t>
            </a:r>
            <a:r>
              <a:rPr lang="en-US" altLang="zh-TW" sz="2000" b="1">
                <a:latin typeface="Courier New" pitchFamily="49" charset="0"/>
              </a:rPr>
              <a:t>for</a:t>
            </a:r>
            <a:r>
              <a:rPr lang="en-US" altLang="zh-TW" sz="2000">
                <a:latin typeface="Courier New" pitchFamily="49" charset="0"/>
              </a:rPr>
              <a:t> </a:t>
            </a:r>
            <a:r>
              <a:rPr lang="en-US" altLang="zh-TW" sz="2000" i="1">
                <a:latin typeface="Courier New" pitchFamily="49" charset="0"/>
              </a:rPr>
              <a:t>j</a:t>
            </a:r>
            <a:r>
              <a:rPr lang="en-US" altLang="zh-TW" sz="2000">
                <a:latin typeface="Courier New" pitchFamily="49" charset="0"/>
              </a:rPr>
              <a:t> </a:t>
            </a:r>
            <a:r>
              <a:rPr lang="en-US" altLang="zh-TW" sz="2000" b="1">
                <a:latin typeface="Courier New" pitchFamily="49" charset="0"/>
                <a:cs typeface="Times New Roman" pitchFamily="18" charset="0"/>
              </a:rPr>
              <a:t>←</a:t>
            </a: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 2 </a:t>
            </a:r>
            <a:r>
              <a:rPr lang="en-US" altLang="zh-TW" sz="2000" b="1">
                <a:latin typeface="Courier New" pitchFamily="49" charset="0"/>
                <a:cs typeface="Times New Roman" pitchFamily="18" charset="0"/>
              </a:rPr>
              <a:t>to</a:t>
            </a: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zh-TW" sz="2000" i="1">
                <a:latin typeface="Courier New" pitchFamily="49" charset="0"/>
                <a:cs typeface="Times New Roman" pitchFamily="18" charset="0"/>
              </a:rPr>
              <a:t>length</a:t>
            </a: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[</a:t>
            </a:r>
            <a:r>
              <a:rPr lang="en-US" altLang="zh-TW" sz="2000" i="1">
                <a:latin typeface="Courier New" pitchFamily="49" charset="0"/>
                <a:cs typeface="Times New Roman" pitchFamily="18" charset="0"/>
              </a:rPr>
              <a:t>A</a:t>
            </a: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]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	2 	</a:t>
            </a:r>
            <a:r>
              <a:rPr lang="en-US" altLang="zh-TW" sz="2000" b="1">
                <a:latin typeface="Courier New" pitchFamily="49" charset="0"/>
                <a:cs typeface="Times New Roman" pitchFamily="18" charset="0"/>
              </a:rPr>
              <a:t>do</a:t>
            </a: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zh-TW" sz="2000" i="1">
                <a:latin typeface="Courier New" pitchFamily="49" charset="0"/>
                <a:cs typeface="Times New Roman" pitchFamily="18" charset="0"/>
              </a:rPr>
              <a:t>key</a:t>
            </a: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zh-TW" sz="2000" b="1">
                <a:latin typeface="Courier New" pitchFamily="49" charset="0"/>
                <a:cs typeface="Times New Roman" pitchFamily="18" charset="0"/>
              </a:rPr>
              <a:t>←</a:t>
            </a: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zh-TW" sz="2000" i="1">
                <a:latin typeface="Courier New" pitchFamily="49" charset="0"/>
                <a:cs typeface="Times New Roman" pitchFamily="18" charset="0"/>
              </a:rPr>
              <a:t>A</a:t>
            </a: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[</a:t>
            </a:r>
            <a:r>
              <a:rPr lang="en-US" altLang="zh-TW" sz="2000" i="1">
                <a:latin typeface="Courier New" pitchFamily="49" charset="0"/>
                <a:cs typeface="Times New Roman" pitchFamily="18" charset="0"/>
              </a:rPr>
              <a:t>j</a:t>
            </a: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]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	3 		►insert </a:t>
            </a:r>
            <a:r>
              <a:rPr lang="en-US" altLang="zh-TW" sz="2000" i="1">
                <a:latin typeface="Courier New" pitchFamily="49" charset="0"/>
                <a:cs typeface="Times New Roman" pitchFamily="18" charset="0"/>
              </a:rPr>
              <a:t>A</a:t>
            </a: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[</a:t>
            </a:r>
            <a:r>
              <a:rPr lang="en-US" altLang="zh-TW" sz="2000" i="1">
                <a:latin typeface="Courier New" pitchFamily="49" charset="0"/>
                <a:cs typeface="Times New Roman" pitchFamily="18" charset="0"/>
              </a:rPr>
              <a:t>j</a:t>
            </a: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] into the sorted</a:t>
            </a:r>
            <a:br>
              <a:rPr lang="en-US" altLang="zh-TW" sz="2000">
                <a:latin typeface="Courier New" pitchFamily="49" charset="0"/>
                <a:cs typeface="Times New Roman" pitchFamily="18" charset="0"/>
              </a:rPr>
            </a:b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			sequence </a:t>
            </a:r>
            <a:r>
              <a:rPr lang="en-US" altLang="zh-TW" sz="2000" i="1">
                <a:latin typeface="Courier New" pitchFamily="49" charset="0"/>
                <a:cs typeface="Times New Roman" pitchFamily="18" charset="0"/>
              </a:rPr>
              <a:t>A</a:t>
            </a: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[1..</a:t>
            </a:r>
            <a:r>
              <a:rPr lang="en-US" altLang="zh-TW" sz="2000" i="1">
                <a:latin typeface="Courier New" pitchFamily="49" charset="0"/>
                <a:cs typeface="Times New Roman" pitchFamily="18" charset="0"/>
              </a:rPr>
              <a:t>j</a:t>
            </a: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 - 1]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	4		</a:t>
            </a:r>
            <a:r>
              <a:rPr lang="en-US" altLang="zh-TW" sz="2000" i="1">
                <a:latin typeface="Courier New" pitchFamily="49" charset="0"/>
                <a:cs typeface="Times New Roman" pitchFamily="18" charset="0"/>
              </a:rPr>
              <a:t>i</a:t>
            </a: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zh-TW" sz="2000" b="1">
                <a:latin typeface="Courier New" pitchFamily="49" charset="0"/>
                <a:cs typeface="Times New Roman" pitchFamily="18" charset="0"/>
              </a:rPr>
              <a:t>←</a:t>
            </a: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zh-TW" sz="2000" i="1">
                <a:latin typeface="Courier New" pitchFamily="49" charset="0"/>
                <a:cs typeface="Times New Roman" pitchFamily="18" charset="0"/>
              </a:rPr>
              <a:t>j</a:t>
            </a: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 – 1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	5		</a:t>
            </a:r>
            <a:r>
              <a:rPr lang="en-US" altLang="zh-TW" sz="2000" b="1">
                <a:latin typeface="Courier New" pitchFamily="49" charset="0"/>
                <a:cs typeface="Times New Roman" pitchFamily="18" charset="0"/>
              </a:rPr>
              <a:t>while</a:t>
            </a: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zh-TW" sz="2000" i="1">
                <a:latin typeface="Courier New" pitchFamily="49" charset="0"/>
                <a:cs typeface="Times New Roman" pitchFamily="18" charset="0"/>
              </a:rPr>
              <a:t>i</a:t>
            </a: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 &gt; 0 and </a:t>
            </a:r>
            <a:r>
              <a:rPr lang="en-US" altLang="zh-TW" sz="2000" i="1">
                <a:latin typeface="Courier New" pitchFamily="49" charset="0"/>
                <a:cs typeface="Times New Roman" pitchFamily="18" charset="0"/>
              </a:rPr>
              <a:t>A</a:t>
            </a: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[</a:t>
            </a:r>
            <a:r>
              <a:rPr lang="en-US" altLang="zh-TW" sz="2000" i="1">
                <a:latin typeface="Courier New" pitchFamily="49" charset="0"/>
                <a:cs typeface="Times New Roman" pitchFamily="18" charset="0"/>
              </a:rPr>
              <a:t>i</a:t>
            </a: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] &gt; </a:t>
            </a:r>
            <a:r>
              <a:rPr lang="en-US" altLang="zh-TW" sz="2000" i="1">
                <a:latin typeface="Courier New" pitchFamily="49" charset="0"/>
                <a:cs typeface="Times New Roman" pitchFamily="18" charset="0"/>
              </a:rPr>
              <a:t>key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	6			</a:t>
            </a:r>
            <a:r>
              <a:rPr lang="en-US" altLang="zh-TW" sz="2000" b="1">
                <a:latin typeface="Courier New" pitchFamily="49" charset="0"/>
                <a:cs typeface="Times New Roman" pitchFamily="18" charset="0"/>
              </a:rPr>
              <a:t>do</a:t>
            </a: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zh-TW" sz="2000" i="1">
                <a:latin typeface="Courier New" pitchFamily="49" charset="0"/>
                <a:cs typeface="Times New Roman" pitchFamily="18" charset="0"/>
              </a:rPr>
              <a:t>A</a:t>
            </a: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[</a:t>
            </a:r>
            <a:r>
              <a:rPr lang="en-US" altLang="zh-TW" sz="2000" i="1">
                <a:latin typeface="Courier New" pitchFamily="49" charset="0"/>
                <a:cs typeface="Times New Roman" pitchFamily="18" charset="0"/>
              </a:rPr>
              <a:t>i</a:t>
            </a: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 + 1] </a:t>
            </a:r>
            <a:r>
              <a:rPr lang="en-US" altLang="zh-TW" sz="2000" b="1">
                <a:latin typeface="Courier New" pitchFamily="49" charset="0"/>
                <a:cs typeface="Times New Roman" pitchFamily="18" charset="0"/>
              </a:rPr>
              <a:t>←</a:t>
            </a: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zh-TW" sz="2000" i="1">
                <a:latin typeface="Courier New" pitchFamily="49" charset="0"/>
                <a:cs typeface="Times New Roman" pitchFamily="18" charset="0"/>
              </a:rPr>
              <a:t>A</a:t>
            </a: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[</a:t>
            </a:r>
            <a:r>
              <a:rPr lang="en-US" altLang="zh-TW" sz="2000" i="1">
                <a:latin typeface="Courier New" pitchFamily="49" charset="0"/>
                <a:cs typeface="Times New Roman" pitchFamily="18" charset="0"/>
              </a:rPr>
              <a:t>i</a:t>
            </a: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]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	7			</a:t>
            </a:r>
            <a:r>
              <a:rPr lang="en-US" altLang="zh-TW" sz="2000" i="1">
                <a:latin typeface="Courier New" pitchFamily="49" charset="0"/>
                <a:cs typeface="Times New Roman" pitchFamily="18" charset="0"/>
              </a:rPr>
              <a:t>i</a:t>
            </a: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zh-TW" sz="2000" b="1">
                <a:latin typeface="Courier New" pitchFamily="49" charset="0"/>
                <a:cs typeface="Times New Roman" pitchFamily="18" charset="0"/>
              </a:rPr>
              <a:t>←</a:t>
            </a: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zh-TW" sz="2000" i="1">
                <a:latin typeface="Courier New" pitchFamily="49" charset="0"/>
                <a:cs typeface="Times New Roman" pitchFamily="18" charset="0"/>
              </a:rPr>
              <a:t>i</a:t>
            </a: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 – 1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	8		</a:t>
            </a:r>
            <a:r>
              <a:rPr lang="en-US" altLang="zh-TW" sz="2000" i="1">
                <a:latin typeface="Courier New" pitchFamily="49" charset="0"/>
                <a:cs typeface="Times New Roman" pitchFamily="18" charset="0"/>
              </a:rPr>
              <a:t>A</a:t>
            </a: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[</a:t>
            </a:r>
            <a:r>
              <a:rPr lang="en-US" altLang="zh-TW" sz="2000" i="1">
                <a:latin typeface="Courier New" pitchFamily="49" charset="0"/>
                <a:cs typeface="Times New Roman" pitchFamily="18" charset="0"/>
              </a:rPr>
              <a:t>i</a:t>
            </a: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 + 1] </a:t>
            </a:r>
            <a:r>
              <a:rPr lang="en-US" altLang="zh-TW" sz="2000" b="1">
                <a:latin typeface="Courier New" pitchFamily="49" charset="0"/>
                <a:cs typeface="Times New Roman" pitchFamily="18" charset="0"/>
              </a:rPr>
              <a:t>←</a:t>
            </a: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zh-TW" sz="2000" i="1">
                <a:latin typeface="Courier New" pitchFamily="49" charset="0"/>
                <a:cs typeface="Times New Roman" pitchFamily="18" charset="0"/>
              </a:rPr>
              <a:t>key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zh-TW" sz="2000">
                <a:latin typeface="Courier New" pitchFamily="49" charset="0"/>
                <a:cs typeface="Times New Roman" pitchFamily="18" charset="0"/>
              </a:rPr>
              <a:t>	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Tx/>
              <a:buNone/>
            </a:pPr>
            <a:endParaRPr lang="en-US" altLang="zh-TW" sz="2800" i="1">
              <a:latin typeface="Courier New" pitchFamily="49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zh-TW" sz="2800" i="1"/>
              <a:t>T</a:t>
            </a:r>
            <a:r>
              <a:rPr lang="en-US" altLang="zh-TW" sz="2800"/>
              <a:t>(</a:t>
            </a:r>
            <a:r>
              <a:rPr lang="en-US" altLang="zh-TW" sz="2800" i="1"/>
              <a:t>n</a:t>
            </a:r>
            <a:r>
              <a:rPr lang="en-US" altLang="zh-TW" sz="2800"/>
              <a:t>) = </a:t>
            </a:r>
            <a:r>
              <a:rPr lang="en-US" altLang="zh-TW" sz="2800" i="1"/>
              <a:t>c</a:t>
            </a:r>
            <a:r>
              <a:rPr lang="en-US" altLang="zh-TW" sz="2800" baseline="-25000"/>
              <a:t>1</a:t>
            </a:r>
            <a:r>
              <a:rPr lang="en-US" altLang="zh-TW" sz="2800" i="1"/>
              <a:t>n</a:t>
            </a:r>
            <a:r>
              <a:rPr lang="en-US" altLang="zh-TW" sz="2800"/>
              <a:t>+(</a:t>
            </a:r>
            <a:r>
              <a:rPr lang="en-US" altLang="zh-TW" sz="2800" i="1"/>
              <a:t>c</a:t>
            </a:r>
            <a:r>
              <a:rPr lang="en-US" altLang="zh-TW" sz="2800" baseline="-25000"/>
              <a:t>2</a:t>
            </a:r>
            <a:r>
              <a:rPr lang="en-US" altLang="zh-TW" sz="2800"/>
              <a:t>+</a:t>
            </a:r>
            <a:r>
              <a:rPr lang="en-US" altLang="zh-TW" sz="2800" i="1"/>
              <a:t>c</a:t>
            </a:r>
            <a:r>
              <a:rPr lang="en-US" altLang="zh-TW" sz="2800" baseline="-25000"/>
              <a:t>4</a:t>
            </a:r>
            <a:r>
              <a:rPr lang="en-US" altLang="zh-TW" sz="2800"/>
              <a:t>+</a:t>
            </a:r>
            <a:r>
              <a:rPr lang="en-US" altLang="zh-TW" sz="2800" i="1"/>
              <a:t>c</a:t>
            </a:r>
            <a:r>
              <a:rPr lang="en-US" altLang="zh-TW" sz="2800" baseline="-25000"/>
              <a:t>8</a:t>
            </a:r>
            <a:r>
              <a:rPr lang="en-US" altLang="zh-TW" sz="2800"/>
              <a:t>)(</a:t>
            </a:r>
            <a:r>
              <a:rPr lang="en-US" altLang="zh-TW" sz="2800" i="1"/>
              <a:t>n</a:t>
            </a:r>
            <a:r>
              <a:rPr lang="en-US" altLang="zh-TW" sz="2800"/>
              <a:t>-1)+</a:t>
            </a:r>
            <a:r>
              <a:rPr lang="en-US" altLang="zh-TW" sz="2800" i="1"/>
              <a:t>c</a:t>
            </a:r>
            <a:r>
              <a:rPr lang="en-US" altLang="zh-TW" sz="2800" baseline="-25000"/>
              <a:t>5</a:t>
            </a:r>
            <a:r>
              <a:rPr lang="en-US" altLang="zh-TW" sz="2800"/>
              <a:t>       +(</a:t>
            </a:r>
            <a:r>
              <a:rPr lang="en-US" altLang="zh-TW" sz="2800" i="1"/>
              <a:t>c</a:t>
            </a:r>
            <a:r>
              <a:rPr lang="en-US" altLang="zh-TW" sz="2800" baseline="-25000"/>
              <a:t>6</a:t>
            </a:r>
            <a:r>
              <a:rPr lang="en-US" altLang="zh-TW" sz="2800"/>
              <a:t>+</a:t>
            </a:r>
            <a:r>
              <a:rPr lang="en-US" altLang="zh-TW" sz="2800" i="1"/>
              <a:t>c</a:t>
            </a:r>
            <a:r>
              <a:rPr lang="en-US" altLang="zh-TW" sz="2800" baseline="-25000"/>
              <a:t>7</a:t>
            </a:r>
            <a:r>
              <a:rPr lang="en-US" altLang="zh-TW" sz="2800"/>
              <a:t>)</a:t>
            </a:r>
          </a:p>
        </p:txBody>
      </p:sp>
      <p:graphicFrame>
        <p:nvGraphicFramePr>
          <p:cNvPr id="101396" name="Object 20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7604125" y="3284538"/>
          <a:ext cx="863600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457200" imgH="304560" progId="Equation.3">
                  <p:embed/>
                </p:oleObj>
              </mc:Choice>
              <mc:Fallback>
                <p:oleObj name="方程式" r:id="rId2" imgW="457200" imgH="304560" progId="Equation.3">
                  <p:embed/>
                  <p:pic>
                    <p:nvPicPr>
                      <p:cNvPr id="10139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4125" y="3284538"/>
                        <a:ext cx="863600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2" name="Object 6"/>
          <p:cNvGraphicFramePr>
            <a:graphicFrameLocks noChangeAspect="1"/>
          </p:cNvGraphicFramePr>
          <p:nvPr/>
        </p:nvGraphicFramePr>
        <p:xfrm>
          <a:off x="4859338" y="5300663"/>
          <a:ext cx="617537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330120" imgH="444240" progId="Equation.3">
                  <p:embed/>
                </p:oleObj>
              </mc:Choice>
              <mc:Fallback>
                <p:oleObj name="方程式" r:id="rId4" imgW="330120" imgH="444240" progId="Equation.3">
                  <p:embed/>
                  <p:pic>
                    <p:nvPicPr>
                      <p:cNvPr id="10138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5300663"/>
                        <a:ext cx="617537" cy="827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4" name="Object 8"/>
          <p:cNvGraphicFramePr>
            <a:graphicFrameLocks noChangeAspect="1"/>
          </p:cNvGraphicFramePr>
          <p:nvPr/>
        </p:nvGraphicFramePr>
        <p:xfrm>
          <a:off x="6732588" y="5300663"/>
          <a:ext cx="1152525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596880" imgH="444240" progId="Equation.3">
                  <p:embed/>
                </p:oleObj>
              </mc:Choice>
              <mc:Fallback>
                <p:oleObj name="方程式" r:id="rId6" imgW="596880" imgH="444240" progId="Equation.3">
                  <p:embed/>
                  <p:pic>
                    <p:nvPicPr>
                      <p:cNvPr id="10138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5300663"/>
                        <a:ext cx="1152525" cy="855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85" name="Text Box 9"/>
          <p:cNvSpPr txBox="1">
            <a:spLocks noChangeArrowheads="1"/>
          </p:cNvSpPr>
          <p:nvPr/>
        </p:nvSpPr>
        <p:spPr bwMode="auto">
          <a:xfrm>
            <a:off x="6804025" y="1196975"/>
            <a:ext cx="741363" cy="367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TW" sz="2200" i="1"/>
              <a:t>cost</a:t>
            </a:r>
          </a:p>
          <a:p>
            <a:r>
              <a:rPr lang="en-US" altLang="zh-TW" sz="2200" i="1"/>
              <a:t>c</a:t>
            </a:r>
            <a:r>
              <a:rPr lang="en-US" altLang="zh-TW" sz="2200" baseline="-25000"/>
              <a:t>1</a:t>
            </a:r>
          </a:p>
          <a:p>
            <a:r>
              <a:rPr lang="en-US" altLang="zh-TW" sz="2200" i="1"/>
              <a:t>c</a:t>
            </a:r>
            <a:r>
              <a:rPr lang="en-US" altLang="zh-TW" sz="2200" baseline="-25000"/>
              <a:t>2</a:t>
            </a:r>
          </a:p>
          <a:p>
            <a:endParaRPr lang="en-US" altLang="zh-TW" sz="2200"/>
          </a:p>
          <a:p>
            <a:r>
              <a:rPr lang="en-US" altLang="zh-TW" sz="2200"/>
              <a:t>0</a:t>
            </a:r>
          </a:p>
          <a:p>
            <a:r>
              <a:rPr lang="en-US" altLang="zh-TW" sz="2200" i="1"/>
              <a:t>c</a:t>
            </a:r>
            <a:r>
              <a:rPr lang="en-US" altLang="zh-TW" sz="2200" baseline="-25000"/>
              <a:t>4</a:t>
            </a:r>
          </a:p>
          <a:p>
            <a:r>
              <a:rPr lang="en-US" altLang="zh-TW" sz="2200" i="1"/>
              <a:t>c</a:t>
            </a:r>
            <a:r>
              <a:rPr lang="en-US" altLang="zh-TW" sz="2200" baseline="-25000"/>
              <a:t>5</a:t>
            </a:r>
          </a:p>
          <a:p>
            <a:r>
              <a:rPr lang="en-US" altLang="zh-TW" sz="2200" i="1"/>
              <a:t>c</a:t>
            </a:r>
            <a:r>
              <a:rPr lang="en-US" altLang="zh-TW" sz="2200" baseline="-25000"/>
              <a:t>6</a:t>
            </a:r>
          </a:p>
          <a:p>
            <a:r>
              <a:rPr lang="en-US" altLang="zh-TW" sz="2200" i="1"/>
              <a:t>c</a:t>
            </a:r>
            <a:r>
              <a:rPr lang="en-US" altLang="zh-TW" sz="2200" baseline="-25000"/>
              <a:t>7</a:t>
            </a:r>
          </a:p>
          <a:p>
            <a:r>
              <a:rPr lang="en-US" altLang="zh-TW" sz="2200" i="1"/>
              <a:t>c</a:t>
            </a:r>
            <a:r>
              <a:rPr lang="en-US" altLang="zh-TW" sz="2200" baseline="-25000"/>
              <a:t>8</a:t>
            </a:r>
          </a:p>
          <a:p>
            <a:endParaRPr lang="en-US" altLang="zh-TW" sz="2200" baseline="-25000"/>
          </a:p>
        </p:txBody>
      </p:sp>
      <p:sp>
        <p:nvSpPr>
          <p:cNvPr id="101386" name="Text Box 10"/>
          <p:cNvSpPr txBox="1">
            <a:spLocks noChangeArrowheads="1"/>
          </p:cNvSpPr>
          <p:nvPr/>
        </p:nvSpPr>
        <p:spPr bwMode="auto">
          <a:xfrm>
            <a:off x="7604125" y="1196975"/>
            <a:ext cx="936625" cy="344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TW" sz="2200" i="1"/>
              <a:t>times</a:t>
            </a:r>
          </a:p>
          <a:p>
            <a:r>
              <a:rPr lang="en-US" altLang="zh-TW" sz="2200" i="1"/>
              <a:t>n</a:t>
            </a:r>
            <a:endParaRPr lang="en-US" altLang="zh-TW" sz="2200" baseline="-25000"/>
          </a:p>
          <a:p>
            <a:r>
              <a:rPr lang="en-US" altLang="zh-TW" sz="2200" i="1"/>
              <a:t>n</a:t>
            </a:r>
            <a:r>
              <a:rPr lang="en-US" altLang="zh-TW" sz="2200"/>
              <a:t> - 1</a:t>
            </a:r>
            <a:endParaRPr lang="en-US" altLang="zh-TW" sz="2200" i="1"/>
          </a:p>
          <a:p>
            <a:endParaRPr lang="en-US" altLang="zh-TW" sz="2200"/>
          </a:p>
          <a:p>
            <a:r>
              <a:rPr lang="en-US" altLang="zh-TW" sz="2200" i="1"/>
              <a:t>n</a:t>
            </a:r>
            <a:r>
              <a:rPr lang="en-US" altLang="zh-TW" sz="2200"/>
              <a:t> - 1</a:t>
            </a:r>
            <a:endParaRPr lang="en-US" altLang="zh-TW" sz="2200" i="1"/>
          </a:p>
          <a:p>
            <a:r>
              <a:rPr lang="en-US" altLang="zh-TW" sz="2200" i="1"/>
              <a:t>n</a:t>
            </a:r>
            <a:r>
              <a:rPr lang="en-US" altLang="zh-TW" sz="2200"/>
              <a:t> - 1</a:t>
            </a:r>
            <a:endParaRPr lang="en-US" altLang="zh-TW" sz="2200" i="1"/>
          </a:p>
          <a:p>
            <a:endParaRPr lang="en-US" altLang="zh-TW" sz="2200" i="1"/>
          </a:p>
          <a:p>
            <a:endParaRPr lang="en-US" altLang="zh-TW" sz="2200" i="1"/>
          </a:p>
          <a:p>
            <a:endParaRPr lang="en-US" altLang="zh-TW" sz="2200" i="1"/>
          </a:p>
          <a:p>
            <a:r>
              <a:rPr lang="en-US" altLang="zh-TW" sz="2200" i="1"/>
              <a:t>n</a:t>
            </a:r>
            <a:r>
              <a:rPr lang="en-US" altLang="zh-TW" sz="2200"/>
              <a:t> - 1</a:t>
            </a:r>
            <a:endParaRPr lang="en-US" altLang="zh-TW" sz="2200" baseline="-25000"/>
          </a:p>
        </p:txBody>
      </p:sp>
      <p:graphicFrame>
        <p:nvGraphicFramePr>
          <p:cNvPr id="101399" name="Object 23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7604125" y="3644900"/>
          <a:ext cx="1150938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8" imgW="723600" imgH="304560" progId="Equation.3">
                  <p:embed/>
                </p:oleObj>
              </mc:Choice>
              <mc:Fallback>
                <p:oleObj name="方程式" r:id="rId8" imgW="723600" imgH="304560" progId="Equation.3">
                  <p:embed/>
                  <p:pic>
                    <p:nvPicPr>
                      <p:cNvPr id="10139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4125" y="3644900"/>
                        <a:ext cx="1150938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402" name="Object 26"/>
          <p:cNvGraphicFramePr>
            <a:graphicFrameLocks noChangeAspect="1"/>
          </p:cNvGraphicFramePr>
          <p:nvPr/>
        </p:nvGraphicFramePr>
        <p:xfrm>
          <a:off x="7596188" y="4005263"/>
          <a:ext cx="123190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0" imgW="723600" imgH="304560" progId="Equation.3">
                  <p:embed/>
                </p:oleObj>
              </mc:Choice>
              <mc:Fallback>
                <p:oleObj name="方程式" r:id="rId10" imgW="723600" imgH="304560" progId="Equation.3">
                  <p:embed/>
                  <p:pic>
                    <p:nvPicPr>
                      <p:cNvPr id="10140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188" y="4005263"/>
                        <a:ext cx="123190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Getting Started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9195-EB6D-45F4-B50C-270A59F8CA84}" type="slidenum">
              <a:rPr lang="en-US" altLang="zh-TW"/>
              <a:pPr/>
              <a:t>5</a:t>
            </a:fld>
            <a:endParaRPr lang="en-US" altLang="zh-TW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92150"/>
            <a:ext cx="8147050" cy="540067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TW" sz="2800" b="1" i="1">
                <a:solidFill>
                  <a:schemeClr val="accent2"/>
                </a:solidFill>
              </a:rPr>
              <a:t>Best-case:</a:t>
            </a:r>
          </a:p>
          <a:p>
            <a:pPr>
              <a:buFontTx/>
              <a:buNone/>
            </a:pPr>
            <a:r>
              <a:rPr lang="en-US" altLang="zh-TW" sz="2800"/>
              <a:t>	Each </a:t>
            </a:r>
            <a:r>
              <a:rPr lang="en-US" altLang="zh-TW" sz="2800" i="1"/>
              <a:t>t</a:t>
            </a:r>
            <a:r>
              <a:rPr lang="en-US" altLang="zh-TW" sz="2800" i="1" baseline="-25000"/>
              <a:t>j</a:t>
            </a:r>
            <a:r>
              <a:rPr lang="en-US" altLang="zh-TW" sz="2800"/>
              <a:t>=1. (</a:t>
            </a:r>
            <a:r>
              <a:rPr lang="zh-TW" altLang="en-US" sz="2800"/>
              <a:t>輸入 </a:t>
            </a:r>
            <a:r>
              <a:rPr lang="en-US" altLang="zh-TW" sz="2800" i="1"/>
              <a:t>A</a:t>
            </a:r>
            <a:r>
              <a:rPr lang="en-US" altLang="zh-TW" sz="2800"/>
              <a:t> </a:t>
            </a:r>
            <a:r>
              <a:rPr lang="zh-TW" altLang="en-US" sz="2800"/>
              <a:t>是排序好的</a:t>
            </a:r>
            <a:r>
              <a:rPr lang="en-US" altLang="zh-TW" sz="2800"/>
              <a:t>)</a:t>
            </a:r>
          </a:p>
          <a:p>
            <a:pPr>
              <a:buFontTx/>
              <a:buNone/>
            </a:pPr>
            <a:r>
              <a:rPr lang="en-US" altLang="zh-TW" sz="2800"/>
              <a:t>	</a:t>
            </a:r>
            <a:r>
              <a:rPr lang="en-US" altLang="zh-TW" sz="2800" i="1"/>
              <a:t>T</a:t>
            </a:r>
            <a:r>
              <a:rPr lang="en-US" altLang="zh-TW" sz="2800"/>
              <a:t>(</a:t>
            </a:r>
            <a:r>
              <a:rPr lang="en-US" altLang="zh-TW" sz="2800" i="1"/>
              <a:t>n</a:t>
            </a:r>
            <a:r>
              <a:rPr lang="en-US" altLang="zh-TW" sz="2800"/>
              <a:t>)  =	(</a:t>
            </a:r>
            <a:r>
              <a:rPr lang="en-US" altLang="zh-TW" sz="2800" i="1"/>
              <a:t>c</a:t>
            </a:r>
            <a:r>
              <a:rPr lang="en-US" altLang="zh-TW" sz="2800" baseline="-25000"/>
              <a:t>1</a:t>
            </a:r>
            <a:r>
              <a:rPr lang="en-US" altLang="zh-TW" sz="2800"/>
              <a:t>+</a:t>
            </a:r>
            <a:r>
              <a:rPr lang="en-US" altLang="zh-TW" sz="2800" i="1"/>
              <a:t>c</a:t>
            </a:r>
            <a:r>
              <a:rPr lang="en-US" altLang="zh-TW" sz="2800" baseline="-25000"/>
              <a:t>2</a:t>
            </a:r>
            <a:r>
              <a:rPr lang="en-US" altLang="zh-TW" sz="2800"/>
              <a:t>+</a:t>
            </a:r>
            <a:r>
              <a:rPr lang="en-US" altLang="zh-TW" sz="2800" i="1"/>
              <a:t>c</a:t>
            </a:r>
            <a:r>
              <a:rPr lang="en-US" altLang="zh-TW" sz="2800" baseline="-25000"/>
              <a:t>4</a:t>
            </a:r>
            <a:r>
              <a:rPr lang="en-US" altLang="zh-TW" sz="2800"/>
              <a:t>+</a:t>
            </a:r>
            <a:r>
              <a:rPr lang="en-US" altLang="zh-TW" sz="2800" i="1"/>
              <a:t>c</a:t>
            </a:r>
            <a:r>
              <a:rPr lang="en-US" altLang="zh-TW" sz="2800" baseline="-25000"/>
              <a:t>5</a:t>
            </a:r>
            <a:r>
              <a:rPr lang="en-US" altLang="zh-TW" sz="2800"/>
              <a:t>+</a:t>
            </a:r>
            <a:r>
              <a:rPr lang="en-US" altLang="zh-TW" sz="2800" i="1"/>
              <a:t>c</a:t>
            </a:r>
            <a:r>
              <a:rPr lang="en-US" altLang="zh-TW" sz="2800" baseline="-25000"/>
              <a:t>8</a:t>
            </a:r>
            <a:r>
              <a:rPr lang="en-US" altLang="zh-TW" sz="2800"/>
              <a:t>)</a:t>
            </a:r>
            <a:r>
              <a:rPr lang="en-US" altLang="zh-TW" sz="2800" i="1"/>
              <a:t>n</a:t>
            </a:r>
            <a:r>
              <a:rPr lang="en-US" altLang="zh-TW" sz="2800"/>
              <a:t>-(</a:t>
            </a:r>
            <a:r>
              <a:rPr lang="en-US" altLang="zh-TW" sz="2800" i="1"/>
              <a:t>c</a:t>
            </a:r>
            <a:r>
              <a:rPr lang="en-US" altLang="zh-TW" sz="2800" baseline="-25000"/>
              <a:t>2</a:t>
            </a:r>
            <a:r>
              <a:rPr lang="en-US" altLang="zh-TW" sz="2800"/>
              <a:t>+</a:t>
            </a:r>
            <a:r>
              <a:rPr lang="en-US" altLang="zh-TW" sz="2800" i="1"/>
              <a:t>c</a:t>
            </a:r>
            <a:r>
              <a:rPr lang="en-US" altLang="zh-TW" sz="2800" baseline="-25000"/>
              <a:t>4</a:t>
            </a:r>
            <a:r>
              <a:rPr lang="en-US" altLang="zh-TW" sz="2800"/>
              <a:t>+</a:t>
            </a:r>
            <a:r>
              <a:rPr lang="en-US" altLang="zh-TW" sz="2800" i="1"/>
              <a:t>c</a:t>
            </a:r>
            <a:r>
              <a:rPr lang="en-US" altLang="zh-TW" sz="2800" baseline="-25000"/>
              <a:t>5</a:t>
            </a:r>
            <a:r>
              <a:rPr lang="en-US" altLang="zh-TW" sz="2800"/>
              <a:t>+</a:t>
            </a:r>
            <a:r>
              <a:rPr lang="en-US" altLang="zh-TW" sz="2800" i="1"/>
              <a:t>c</a:t>
            </a:r>
            <a:r>
              <a:rPr lang="en-US" altLang="zh-TW" sz="2800" baseline="-25000"/>
              <a:t>8</a:t>
            </a:r>
            <a:r>
              <a:rPr lang="en-US" altLang="zh-TW" sz="2800"/>
              <a:t>)</a:t>
            </a:r>
          </a:p>
          <a:p>
            <a:pPr>
              <a:buFontTx/>
              <a:buNone/>
            </a:pPr>
            <a:r>
              <a:rPr lang="en-US" altLang="zh-TW" sz="2800"/>
              <a:t>		  =	</a:t>
            </a:r>
            <a:r>
              <a:rPr lang="en-US" altLang="zh-TW" sz="2800">
                <a:sym typeface="Symbol" pitchFamily="18" charset="2"/>
              </a:rPr>
              <a:t></a:t>
            </a:r>
            <a:r>
              <a:rPr lang="en-US" altLang="zh-TW" sz="2800"/>
              <a:t>(</a:t>
            </a:r>
            <a:r>
              <a:rPr lang="en-US" altLang="zh-TW" sz="2800" i="1"/>
              <a:t>n</a:t>
            </a:r>
            <a:r>
              <a:rPr lang="en-US" altLang="zh-TW" sz="2800"/>
              <a:t>)</a:t>
            </a:r>
          </a:p>
          <a:p>
            <a:pPr>
              <a:buFontTx/>
              <a:buNone/>
            </a:pPr>
            <a:r>
              <a:rPr lang="en-US" altLang="zh-TW" sz="2800"/>
              <a:t>			(</a:t>
            </a:r>
            <a:r>
              <a:rPr lang="en-US" altLang="zh-TW" sz="2800" b="1" i="1"/>
              <a:t>rate of growth, order of growth</a:t>
            </a:r>
            <a:r>
              <a:rPr lang="en-US" altLang="zh-TW" sz="2800"/>
              <a:t>)</a:t>
            </a:r>
          </a:p>
          <a:p>
            <a:pPr>
              <a:buFontTx/>
              <a:buNone/>
            </a:pPr>
            <a:endParaRPr lang="en-US" altLang="zh-TW" sz="2800"/>
          </a:p>
          <a:p>
            <a:pPr>
              <a:buFontTx/>
              <a:buNone/>
            </a:pPr>
            <a:r>
              <a:rPr lang="en-US" altLang="zh-TW" sz="2800" b="1" i="1">
                <a:solidFill>
                  <a:schemeClr val="accent2"/>
                </a:solidFill>
              </a:rPr>
              <a:t>Worst-case:</a:t>
            </a:r>
            <a:r>
              <a:rPr lang="en-US" altLang="zh-TW" sz="2800"/>
              <a:t> (upper bound)</a:t>
            </a:r>
          </a:p>
          <a:p>
            <a:pPr>
              <a:buFontTx/>
              <a:buNone/>
            </a:pPr>
            <a:r>
              <a:rPr lang="en-US" altLang="zh-TW" sz="2800"/>
              <a:t>	Each </a:t>
            </a:r>
            <a:r>
              <a:rPr lang="en-US" altLang="zh-TW" sz="2800" i="1"/>
              <a:t>t</a:t>
            </a:r>
            <a:r>
              <a:rPr lang="en-US" altLang="zh-TW" sz="2800" i="1" baseline="-25000"/>
              <a:t>j</a:t>
            </a:r>
            <a:r>
              <a:rPr lang="en-US" altLang="zh-TW" sz="2800"/>
              <a:t>=</a:t>
            </a:r>
            <a:r>
              <a:rPr lang="en-US" altLang="zh-TW" sz="2800" i="1"/>
              <a:t>j</a:t>
            </a:r>
            <a:r>
              <a:rPr lang="en-US" altLang="zh-TW" sz="2800"/>
              <a:t>.</a:t>
            </a:r>
          </a:p>
          <a:p>
            <a:pPr>
              <a:buFontTx/>
              <a:buNone/>
            </a:pPr>
            <a:r>
              <a:rPr lang="en-US" altLang="zh-TW" sz="2800"/>
              <a:t>	</a:t>
            </a:r>
            <a:r>
              <a:rPr lang="en-US" altLang="zh-TW" sz="2800" i="1"/>
              <a:t>T</a:t>
            </a:r>
            <a:r>
              <a:rPr lang="en-US" altLang="zh-TW" sz="2800"/>
              <a:t>(</a:t>
            </a:r>
            <a:r>
              <a:rPr lang="en-US" altLang="zh-TW" sz="2800" i="1"/>
              <a:t>n</a:t>
            </a:r>
            <a:r>
              <a:rPr lang="en-US" altLang="zh-TW" sz="2800"/>
              <a:t>)  =	</a:t>
            </a:r>
            <a:r>
              <a:rPr lang="en-US" altLang="zh-TW" sz="2800" i="1"/>
              <a:t>k</a:t>
            </a:r>
            <a:r>
              <a:rPr lang="en-US" altLang="zh-TW" sz="2800" baseline="-25000"/>
              <a:t>1</a:t>
            </a:r>
            <a:r>
              <a:rPr lang="en-US" altLang="zh-TW" sz="2800" i="1"/>
              <a:t>n</a:t>
            </a:r>
            <a:r>
              <a:rPr lang="en-US" altLang="zh-TW" sz="2800" baseline="30000"/>
              <a:t>2</a:t>
            </a:r>
            <a:r>
              <a:rPr lang="en-US" altLang="zh-TW" sz="2800"/>
              <a:t> + </a:t>
            </a:r>
            <a:r>
              <a:rPr lang="en-US" altLang="zh-TW" sz="2800" i="1"/>
              <a:t>k</a:t>
            </a:r>
            <a:r>
              <a:rPr lang="en-US" altLang="zh-TW" sz="2800" baseline="-25000"/>
              <a:t>2</a:t>
            </a:r>
            <a:r>
              <a:rPr lang="en-US" altLang="zh-TW" sz="2800" i="1"/>
              <a:t>n</a:t>
            </a:r>
            <a:r>
              <a:rPr lang="en-US" altLang="zh-TW" sz="2800"/>
              <a:t> + </a:t>
            </a:r>
            <a:r>
              <a:rPr lang="en-US" altLang="zh-TW" sz="2800" i="1"/>
              <a:t>k</a:t>
            </a:r>
            <a:r>
              <a:rPr lang="en-US" altLang="zh-TW" sz="2800" baseline="-25000"/>
              <a:t>3</a:t>
            </a:r>
          </a:p>
          <a:p>
            <a:pPr>
              <a:buFontTx/>
              <a:buNone/>
            </a:pPr>
            <a:r>
              <a:rPr lang="en-US" altLang="zh-TW" sz="2800"/>
              <a:t>		  =	</a:t>
            </a:r>
            <a:r>
              <a:rPr lang="en-US" altLang="zh-TW" sz="2800">
                <a:sym typeface="Symbol" pitchFamily="18" charset="2"/>
              </a:rPr>
              <a:t></a:t>
            </a:r>
            <a:r>
              <a:rPr lang="en-US" altLang="zh-TW" sz="2800"/>
              <a:t>(</a:t>
            </a:r>
            <a:r>
              <a:rPr lang="en-US" altLang="zh-TW" sz="2800" i="1"/>
              <a:t>n</a:t>
            </a:r>
            <a:r>
              <a:rPr lang="en-US" altLang="zh-TW" sz="2800" baseline="30000"/>
              <a:t>2</a:t>
            </a:r>
            <a:r>
              <a:rPr lang="en-US" altLang="zh-TW" sz="2800"/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Getting Started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1863E-DE9B-4783-B8A9-297607425596}" type="slidenum">
              <a:rPr lang="en-US" altLang="zh-TW"/>
              <a:pPr/>
              <a:t>6</a:t>
            </a:fld>
            <a:endParaRPr lang="en-US" altLang="zh-TW"/>
          </a:p>
        </p:txBody>
      </p:sp>
      <p:sp>
        <p:nvSpPr>
          <p:cNvPr id="849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692150"/>
            <a:ext cx="8147050" cy="5400675"/>
          </a:xfrm>
        </p:spPr>
        <p:txBody>
          <a:bodyPr/>
          <a:lstStyle/>
          <a:p>
            <a:pPr>
              <a:buFontTx/>
              <a:buNone/>
            </a:pPr>
            <a:endParaRPr lang="en-US" altLang="zh-TW" sz="2800" b="1" i="1">
              <a:solidFill>
                <a:schemeClr val="accent2"/>
              </a:solidFill>
            </a:endParaRPr>
          </a:p>
          <a:p>
            <a:pPr>
              <a:buFontTx/>
              <a:buNone/>
            </a:pPr>
            <a:r>
              <a:rPr lang="en-US" altLang="zh-TW" sz="2800" b="1" i="1">
                <a:solidFill>
                  <a:schemeClr val="accent2"/>
                </a:solidFill>
              </a:rPr>
              <a:t>Average-case:</a:t>
            </a:r>
            <a:r>
              <a:rPr lang="en-US" altLang="zh-TW" sz="2800">
                <a:solidFill>
                  <a:schemeClr val="accent2"/>
                </a:solidFill>
              </a:rPr>
              <a:t> </a:t>
            </a:r>
            <a:r>
              <a:rPr lang="en-US" altLang="zh-TW" sz="2800"/>
              <a:t>(Expected running time)</a:t>
            </a:r>
            <a:endParaRPr lang="en-US" altLang="zh-TW" sz="2800" b="1" i="1">
              <a:solidFill>
                <a:schemeClr val="accent2"/>
              </a:solidFill>
            </a:endParaRPr>
          </a:p>
          <a:p>
            <a:pPr>
              <a:buFontTx/>
              <a:buNone/>
            </a:pPr>
            <a:endParaRPr lang="en-US" altLang="zh-TW" sz="2800"/>
          </a:p>
          <a:p>
            <a:pPr>
              <a:buFontTx/>
              <a:buNone/>
            </a:pPr>
            <a:r>
              <a:rPr lang="en-US" altLang="zh-TW" sz="2800"/>
              <a:t>	Each </a:t>
            </a:r>
            <a:r>
              <a:rPr lang="en-US" altLang="zh-TW" sz="2800" i="1"/>
              <a:t>t</a:t>
            </a:r>
            <a:r>
              <a:rPr lang="en-US" altLang="zh-TW" sz="2800" i="1" baseline="-25000"/>
              <a:t>j</a:t>
            </a:r>
            <a:r>
              <a:rPr lang="en-US" altLang="zh-TW" sz="2800"/>
              <a:t>=</a:t>
            </a:r>
            <a:r>
              <a:rPr lang="en-US" altLang="zh-TW" sz="2800" i="1"/>
              <a:t>j</a:t>
            </a:r>
            <a:r>
              <a:rPr lang="en-US" altLang="zh-TW" sz="2800"/>
              <a:t>/2</a:t>
            </a:r>
          </a:p>
          <a:p>
            <a:pPr>
              <a:buFontTx/>
              <a:buNone/>
            </a:pPr>
            <a:r>
              <a:rPr lang="en-US" altLang="zh-TW" sz="2800"/>
              <a:t>	</a:t>
            </a:r>
            <a:r>
              <a:rPr lang="en-US" altLang="zh-TW" sz="2800" i="1"/>
              <a:t>T</a:t>
            </a:r>
            <a:r>
              <a:rPr lang="en-US" altLang="zh-TW" sz="2800"/>
              <a:t>(</a:t>
            </a:r>
            <a:r>
              <a:rPr lang="en-US" altLang="zh-TW" sz="2800" i="1"/>
              <a:t>n</a:t>
            </a:r>
            <a:r>
              <a:rPr lang="en-US" altLang="zh-TW" sz="2800"/>
              <a:t>)  =	</a:t>
            </a:r>
            <a:r>
              <a:rPr lang="en-US" altLang="zh-TW" sz="2800" i="1"/>
              <a:t>t</a:t>
            </a:r>
            <a:r>
              <a:rPr lang="en-US" altLang="zh-TW" sz="2800" baseline="-25000"/>
              <a:t>1</a:t>
            </a:r>
            <a:r>
              <a:rPr lang="en-US" altLang="zh-TW" sz="2800" i="1"/>
              <a:t>n</a:t>
            </a:r>
            <a:r>
              <a:rPr lang="en-US" altLang="zh-TW" sz="2800" baseline="30000"/>
              <a:t>2</a:t>
            </a:r>
            <a:r>
              <a:rPr lang="en-US" altLang="zh-TW" sz="2800"/>
              <a:t> + </a:t>
            </a:r>
            <a:r>
              <a:rPr lang="en-US" altLang="zh-TW" sz="2800" i="1"/>
              <a:t>t</a:t>
            </a:r>
            <a:r>
              <a:rPr lang="en-US" altLang="zh-TW" sz="2800" baseline="-25000"/>
              <a:t>2</a:t>
            </a:r>
            <a:r>
              <a:rPr lang="en-US" altLang="zh-TW" sz="2800" i="1"/>
              <a:t>n</a:t>
            </a:r>
            <a:r>
              <a:rPr lang="en-US" altLang="zh-TW" sz="2800"/>
              <a:t> + </a:t>
            </a:r>
            <a:r>
              <a:rPr lang="en-US" altLang="zh-TW" sz="2800" i="1"/>
              <a:t>t</a:t>
            </a:r>
            <a:r>
              <a:rPr lang="en-US" altLang="zh-TW" sz="2800" baseline="-25000"/>
              <a:t>3</a:t>
            </a:r>
          </a:p>
          <a:p>
            <a:pPr>
              <a:buFontTx/>
              <a:buNone/>
            </a:pPr>
            <a:r>
              <a:rPr lang="en-US" altLang="zh-TW" sz="2800"/>
              <a:t>		  =	</a:t>
            </a:r>
            <a:r>
              <a:rPr lang="en-US" altLang="zh-TW" sz="2800">
                <a:sym typeface="Symbol" pitchFamily="18" charset="2"/>
              </a:rPr>
              <a:t></a:t>
            </a:r>
            <a:r>
              <a:rPr lang="en-US" altLang="zh-TW" sz="2800"/>
              <a:t>(</a:t>
            </a:r>
            <a:r>
              <a:rPr lang="en-US" altLang="zh-TW" sz="2800" i="1"/>
              <a:t>n</a:t>
            </a:r>
            <a:r>
              <a:rPr lang="en-US" altLang="zh-TW" sz="2800" baseline="30000"/>
              <a:t>2</a:t>
            </a:r>
            <a:r>
              <a:rPr lang="en-US" altLang="zh-TW" sz="2800"/>
              <a:t>)</a:t>
            </a:r>
          </a:p>
          <a:p>
            <a:pPr>
              <a:buFontTx/>
              <a:buNone/>
            </a:pPr>
            <a:r>
              <a:rPr lang="en-US" altLang="zh-TW" sz="2800"/>
              <a:t>			(</a:t>
            </a:r>
            <a:r>
              <a:rPr lang="en-US" altLang="zh-TW" sz="2800" b="1" i="1"/>
              <a:t>rate of growth, order of growth</a:t>
            </a:r>
            <a:r>
              <a:rPr lang="en-US" altLang="zh-TW" sz="2800"/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Getting Started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9EA9-8696-4C62-95FC-384B1B6F3E26}" type="slidenum">
              <a:rPr lang="en-US" altLang="zh-TW"/>
              <a:pPr/>
              <a:t>7</a:t>
            </a:fld>
            <a:endParaRPr lang="en-US" altLang="zh-TW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20713"/>
            <a:ext cx="8291513" cy="5505450"/>
          </a:xfrm>
        </p:spPr>
        <p:txBody>
          <a:bodyPr/>
          <a:lstStyle/>
          <a:p>
            <a:pPr marL="444500" indent="-444500">
              <a:buFontTx/>
              <a:buNone/>
            </a:pPr>
            <a:r>
              <a:rPr lang="en-US" altLang="zh-TW" sz="2800" b="1"/>
              <a:t>2.3 Designing Algorithms</a:t>
            </a:r>
            <a:endParaRPr lang="en-US" altLang="zh-TW" sz="2800"/>
          </a:p>
          <a:p>
            <a:pPr marL="444500" indent="-444500">
              <a:buFontTx/>
              <a:buNone/>
            </a:pPr>
            <a:endParaRPr lang="en-US" altLang="zh-TW" sz="2800" b="1" i="1">
              <a:solidFill>
                <a:schemeClr val="accent2"/>
              </a:solidFill>
            </a:endParaRPr>
          </a:p>
          <a:p>
            <a:pPr marL="444500" indent="-444500">
              <a:buFontTx/>
              <a:buNone/>
            </a:pPr>
            <a:r>
              <a:rPr lang="en-US" altLang="zh-TW" sz="2800" b="1" i="1">
                <a:solidFill>
                  <a:schemeClr val="accent2"/>
                </a:solidFill>
              </a:rPr>
              <a:t>Divide-and-Conquer:</a:t>
            </a:r>
          </a:p>
          <a:p>
            <a:pPr marL="444500" indent="-444500">
              <a:buFontTx/>
              <a:buNone/>
            </a:pPr>
            <a:endParaRPr lang="en-US" altLang="zh-TW" sz="1000" b="1"/>
          </a:p>
          <a:p>
            <a:pPr marL="444500" indent="-444500">
              <a:buFontTx/>
              <a:buNone/>
            </a:pPr>
            <a:r>
              <a:rPr lang="en-US" altLang="zh-TW" sz="2800" b="1"/>
              <a:t>		Divide:(</a:t>
            </a:r>
            <a:r>
              <a:rPr lang="zh-TW" altLang="en-US" sz="2800" b="1"/>
              <a:t>把大問題切成幾個比較小的相同問題</a:t>
            </a:r>
            <a:r>
              <a:rPr lang="en-US" altLang="zh-TW" sz="2800" b="1"/>
              <a:t>)</a:t>
            </a:r>
          </a:p>
          <a:p>
            <a:pPr marL="444500" indent="-444500">
              <a:buFontTx/>
              <a:buNone/>
            </a:pPr>
            <a:endParaRPr lang="en-US" altLang="zh-TW" sz="1000" b="1"/>
          </a:p>
          <a:p>
            <a:pPr marL="444500" indent="-444500">
              <a:buFontTx/>
              <a:buNone/>
            </a:pPr>
            <a:r>
              <a:rPr lang="en-US" altLang="zh-TW" sz="2800" b="1"/>
              <a:t>		Conquer:(</a:t>
            </a:r>
            <a:r>
              <a:rPr lang="zh-TW" altLang="en-US" sz="2800" b="1"/>
              <a:t>解決問題</a:t>
            </a:r>
            <a:r>
              <a:rPr lang="en-US" altLang="zh-TW" sz="2800" b="1"/>
              <a:t>)</a:t>
            </a:r>
          </a:p>
          <a:p>
            <a:pPr marL="444500" indent="-444500">
              <a:buFontTx/>
              <a:buNone/>
            </a:pPr>
            <a:endParaRPr lang="en-US" altLang="zh-TW" sz="1000" b="1"/>
          </a:p>
          <a:p>
            <a:pPr marL="444500" indent="-444500">
              <a:buFontTx/>
              <a:buNone/>
            </a:pPr>
            <a:r>
              <a:rPr lang="en-US" altLang="zh-TW" sz="2800" b="1"/>
              <a:t>		Combine:(</a:t>
            </a:r>
            <a:r>
              <a:rPr lang="zh-TW" altLang="en-US" sz="2800" b="1"/>
              <a:t>把小問題的解合成大問題的解</a:t>
            </a:r>
            <a:r>
              <a:rPr lang="en-US" altLang="zh-TW" sz="2800" b="1"/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Getting Started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B3C04-8640-4863-863B-776B81A08877}" type="slidenum">
              <a:rPr lang="en-US" altLang="zh-TW"/>
              <a:pPr/>
              <a:t>8</a:t>
            </a:fld>
            <a:endParaRPr lang="en-US" altLang="zh-TW"/>
          </a:p>
        </p:txBody>
      </p:sp>
      <p:sp>
        <p:nvSpPr>
          <p:cNvPr id="983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620713"/>
            <a:ext cx="8291513" cy="5505450"/>
          </a:xfrm>
        </p:spPr>
        <p:txBody>
          <a:bodyPr/>
          <a:lstStyle/>
          <a:p>
            <a:pPr marL="444500" indent="-444500">
              <a:buFontTx/>
              <a:buNone/>
            </a:pPr>
            <a:endParaRPr lang="en-US" altLang="zh-TW" sz="2800" b="1"/>
          </a:p>
          <a:p>
            <a:pPr marL="444500" indent="-444500">
              <a:buFontTx/>
              <a:buNone/>
            </a:pPr>
            <a:r>
              <a:rPr lang="zh-TW" altLang="en-US" sz="2800" b="1"/>
              <a:t>範例</a:t>
            </a:r>
            <a:r>
              <a:rPr lang="en-US" altLang="zh-TW" sz="2800" b="1"/>
              <a:t>: </a:t>
            </a:r>
            <a:r>
              <a:rPr lang="en-US" altLang="zh-TW" sz="2800"/>
              <a:t>Merge Sort</a:t>
            </a:r>
            <a:endParaRPr lang="en-US" altLang="zh-TW" sz="2800" b="1"/>
          </a:p>
        </p:txBody>
      </p:sp>
      <p:pic>
        <p:nvPicPr>
          <p:cNvPr id="98307" name="Picture 3" descr="4-1"/>
          <p:cNvPicPr>
            <a:picLocks noChangeAspect="1" noChangeArrowheads="1"/>
          </p:cNvPicPr>
          <p:nvPr/>
        </p:nvPicPr>
        <p:blipFill>
          <a:blip r:embed="rId3" cstate="print">
            <a:lum bright="-40000" contrast="6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2205038"/>
            <a:ext cx="5256213" cy="239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24C6A1-C1BF-1E58-17E2-B19B3A37CA8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zh-TW" dirty="0"/>
              <a:t>Merge two sorted arrays:</a:t>
            </a:r>
            <a:br>
              <a:rPr lang="en-US" altLang="zh-TW" dirty="0"/>
            </a:br>
            <a:r>
              <a:rPr lang="pt-BR" altLang="zh-TW" sz="2800" dirty="0"/>
              <a:t>int L[n1], M[n2], arr[n1+n2]</a:t>
            </a:r>
            <a:endParaRPr lang="zh-TW" altLang="en-US" sz="28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4099A1-0519-E16F-C970-4FF760EF9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3394720" cy="5121274"/>
          </a:xfrm>
          <a:ln>
            <a:solidFill>
              <a:srgbClr val="C00000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zh-TW" sz="2400" dirty="0"/>
              <a:t>int </a:t>
            </a:r>
            <a:r>
              <a:rPr lang="en-US" altLang="zh-TW" sz="2400" dirty="0" err="1"/>
              <a:t>i</a:t>
            </a:r>
            <a:r>
              <a:rPr lang="en-US" altLang="zh-TW" sz="2400" dirty="0"/>
              <a:t>=0, j=0, k=0;</a:t>
            </a:r>
          </a:p>
          <a:p>
            <a:pPr marL="0" indent="0">
              <a:buNone/>
            </a:pPr>
            <a:r>
              <a:rPr lang="en-US" altLang="zh-TW" sz="2400" dirty="0"/>
              <a:t>while (</a:t>
            </a:r>
            <a:r>
              <a:rPr lang="en-US" altLang="zh-TW" sz="2400" dirty="0" err="1"/>
              <a:t>i</a:t>
            </a:r>
            <a:r>
              <a:rPr lang="en-US" altLang="zh-TW" sz="2400" dirty="0"/>
              <a:t> &lt; n1 &amp;&amp; j &lt; n2) {</a:t>
            </a:r>
          </a:p>
          <a:p>
            <a:pPr marL="0" indent="0">
              <a:buNone/>
            </a:pPr>
            <a:r>
              <a:rPr lang="en-US" altLang="zh-TW" sz="2400" dirty="0"/>
              <a:t>        if (L[</a:t>
            </a:r>
            <a:r>
              <a:rPr lang="en-US" altLang="zh-TW" sz="2400" dirty="0" err="1"/>
              <a:t>i</a:t>
            </a:r>
            <a:r>
              <a:rPr lang="en-US" altLang="zh-TW" sz="2400" dirty="0"/>
              <a:t>] &lt;= M[j]) {</a:t>
            </a:r>
          </a:p>
          <a:p>
            <a:pPr marL="0" indent="0">
              <a:buNone/>
            </a:pPr>
            <a:r>
              <a:rPr lang="en-US" altLang="zh-TW" sz="2400" dirty="0"/>
              <a:t>            </a:t>
            </a:r>
            <a:r>
              <a:rPr lang="en-US" altLang="zh-TW" sz="2400" dirty="0" err="1"/>
              <a:t>arr</a:t>
            </a:r>
            <a:r>
              <a:rPr lang="en-US" altLang="zh-TW" sz="2400" dirty="0"/>
              <a:t>[k] = L[</a:t>
            </a:r>
            <a:r>
              <a:rPr lang="en-US" altLang="zh-TW" sz="2400" dirty="0" err="1"/>
              <a:t>i</a:t>
            </a:r>
            <a:r>
              <a:rPr lang="en-US" altLang="zh-TW" sz="2400" dirty="0"/>
              <a:t>];</a:t>
            </a:r>
          </a:p>
          <a:p>
            <a:pPr marL="0" indent="0">
              <a:buNone/>
            </a:pPr>
            <a:r>
              <a:rPr lang="en-US" altLang="zh-TW" sz="2400" dirty="0"/>
              <a:t>            </a:t>
            </a:r>
            <a:r>
              <a:rPr lang="en-US" altLang="zh-TW" sz="2400" dirty="0" err="1"/>
              <a:t>i</a:t>
            </a:r>
            <a:r>
              <a:rPr lang="en-US" altLang="zh-TW" sz="2400" dirty="0"/>
              <a:t>++;</a:t>
            </a:r>
          </a:p>
          <a:p>
            <a:pPr marL="0" indent="0">
              <a:buNone/>
            </a:pPr>
            <a:r>
              <a:rPr lang="en-US" altLang="zh-TW" sz="2400" dirty="0"/>
              <a:t>        } else {</a:t>
            </a:r>
          </a:p>
          <a:p>
            <a:pPr marL="0" indent="0">
              <a:buNone/>
            </a:pPr>
            <a:r>
              <a:rPr lang="en-US" altLang="zh-TW" sz="2400" dirty="0"/>
              <a:t>            </a:t>
            </a:r>
            <a:r>
              <a:rPr lang="en-US" altLang="zh-TW" sz="2400" dirty="0" err="1"/>
              <a:t>arr</a:t>
            </a:r>
            <a:r>
              <a:rPr lang="en-US" altLang="zh-TW" sz="2400" dirty="0"/>
              <a:t>[k] = M[j];</a:t>
            </a:r>
          </a:p>
          <a:p>
            <a:pPr marL="0" indent="0">
              <a:buNone/>
            </a:pPr>
            <a:r>
              <a:rPr lang="en-US" altLang="zh-TW" sz="2400" dirty="0"/>
              <a:t>            </a:t>
            </a:r>
            <a:r>
              <a:rPr lang="en-US" altLang="zh-TW" sz="2400" dirty="0" err="1"/>
              <a:t>j++</a:t>
            </a:r>
            <a:r>
              <a:rPr lang="en-US" altLang="zh-TW" sz="2400" dirty="0"/>
              <a:t>;</a:t>
            </a:r>
          </a:p>
          <a:p>
            <a:pPr marL="0" indent="0">
              <a:buNone/>
            </a:pPr>
            <a:r>
              <a:rPr lang="en-US" altLang="zh-TW" sz="2400" dirty="0"/>
              <a:t>        }</a:t>
            </a:r>
          </a:p>
          <a:p>
            <a:pPr marL="0" indent="0">
              <a:buNone/>
            </a:pPr>
            <a:r>
              <a:rPr lang="en-US" altLang="zh-TW" sz="2400" dirty="0"/>
              <a:t>        k++; </a:t>
            </a:r>
          </a:p>
          <a:p>
            <a:pPr marL="0" indent="0">
              <a:buNone/>
            </a:pPr>
            <a:r>
              <a:rPr lang="en-US" altLang="zh-TW" sz="2400" dirty="0"/>
              <a:t>}</a:t>
            </a:r>
            <a:endParaRPr lang="zh-TW" altLang="en-US" sz="2400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67A1DC2-F1CA-E3A3-B81C-099854A02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Getting Started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B39070F-6E14-AF35-9B0F-E6216EAC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F8F7-4C06-4B5A-A711-51DD125CBB26}" type="slidenum">
              <a:rPr lang="en-US" altLang="zh-TW" smtClean="0"/>
              <a:pPr/>
              <a:t>9</a:t>
            </a:fld>
            <a:endParaRPr lang="en-US" altLang="zh-TW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B6DE081-34F6-AEAA-6E9D-3E7E5B951A4A}"/>
              </a:ext>
            </a:extLst>
          </p:cNvPr>
          <p:cNvSpPr txBox="1"/>
          <p:nvPr/>
        </p:nvSpPr>
        <p:spPr>
          <a:xfrm>
            <a:off x="5086400" y="1753939"/>
            <a:ext cx="3600400" cy="41549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nn-NO" altLang="zh-TW" sz="2400" dirty="0"/>
              <a:t>while (i &lt; n1) {</a:t>
            </a:r>
          </a:p>
          <a:p>
            <a:r>
              <a:rPr lang="nn-NO" altLang="zh-TW" sz="2400" dirty="0"/>
              <a:t>        arr[k] = L[i];</a:t>
            </a:r>
          </a:p>
          <a:p>
            <a:r>
              <a:rPr lang="nn-NO" altLang="zh-TW" sz="2400" dirty="0"/>
              <a:t>        i++;</a:t>
            </a:r>
          </a:p>
          <a:p>
            <a:r>
              <a:rPr lang="nn-NO" altLang="zh-TW" sz="2400" dirty="0"/>
              <a:t>        k++;</a:t>
            </a:r>
          </a:p>
          <a:p>
            <a:r>
              <a:rPr lang="nn-NO" altLang="zh-TW" sz="2400" dirty="0"/>
              <a:t>    }</a:t>
            </a:r>
          </a:p>
          <a:p>
            <a:endParaRPr lang="nn-NO" altLang="zh-TW" sz="2400" dirty="0"/>
          </a:p>
          <a:p>
            <a:r>
              <a:rPr lang="nn-NO" altLang="zh-TW" sz="2400" dirty="0"/>
              <a:t>    while (j &lt; n2) {</a:t>
            </a:r>
          </a:p>
          <a:p>
            <a:r>
              <a:rPr lang="nn-NO" altLang="zh-TW" sz="2400" dirty="0"/>
              <a:t>        arr[k] = M[j];</a:t>
            </a:r>
          </a:p>
          <a:p>
            <a:r>
              <a:rPr lang="nn-NO" altLang="zh-TW" sz="2400" dirty="0"/>
              <a:t>        j++;</a:t>
            </a:r>
          </a:p>
          <a:p>
            <a:r>
              <a:rPr lang="nn-NO" altLang="zh-TW" sz="2400" dirty="0"/>
              <a:t>        k++;</a:t>
            </a:r>
          </a:p>
          <a:p>
            <a:r>
              <a:rPr lang="nn-NO" altLang="zh-TW" sz="2400" dirty="0"/>
              <a:t>    }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29979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Getting Started</a:t>
            </a:r>
          </a:p>
        </p:txBody>
      </p:sp>
      <p:sp>
        <p:nvSpPr>
          <p:cNvPr id="41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AA54F-FB56-463E-8B83-8BAC50D3E937}" type="slidenum">
              <a:rPr lang="en-US" altLang="zh-TW"/>
              <a:pPr/>
              <a:t>10</a:t>
            </a:fld>
            <a:endParaRPr lang="en-US" altLang="zh-TW"/>
          </a:p>
        </p:txBody>
      </p:sp>
      <p:sp>
        <p:nvSpPr>
          <p:cNvPr id="107525" name="Text Box 5"/>
          <p:cNvSpPr txBox="1">
            <a:spLocks noChangeArrowheads="1"/>
          </p:cNvSpPr>
          <p:nvPr/>
        </p:nvSpPr>
        <p:spPr bwMode="auto">
          <a:xfrm>
            <a:off x="1331913" y="765175"/>
            <a:ext cx="61214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dist">
              <a:spcBef>
                <a:spcPct val="50000"/>
              </a:spcBef>
            </a:pPr>
            <a:r>
              <a:rPr lang="en-US" altLang="zh-TW"/>
              <a:t>12234566</a:t>
            </a:r>
          </a:p>
        </p:txBody>
      </p:sp>
      <p:sp>
        <p:nvSpPr>
          <p:cNvPr id="107526" name="Text Box 6"/>
          <p:cNvSpPr txBox="1">
            <a:spLocks noChangeArrowheads="1"/>
          </p:cNvSpPr>
          <p:nvPr/>
        </p:nvSpPr>
        <p:spPr bwMode="auto">
          <a:xfrm>
            <a:off x="1331913" y="2060575"/>
            <a:ext cx="2376487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dist">
              <a:spcBef>
                <a:spcPct val="50000"/>
              </a:spcBef>
            </a:pPr>
            <a:r>
              <a:rPr lang="en-US" altLang="zh-TW"/>
              <a:t>2456</a:t>
            </a:r>
          </a:p>
        </p:txBody>
      </p:sp>
      <p:sp>
        <p:nvSpPr>
          <p:cNvPr id="107527" name="Text Box 7"/>
          <p:cNvSpPr txBox="1">
            <a:spLocks noChangeArrowheads="1"/>
          </p:cNvSpPr>
          <p:nvPr/>
        </p:nvSpPr>
        <p:spPr bwMode="auto">
          <a:xfrm>
            <a:off x="4787900" y="2060575"/>
            <a:ext cx="2376488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dist">
              <a:spcBef>
                <a:spcPct val="50000"/>
              </a:spcBef>
            </a:pPr>
            <a:r>
              <a:rPr lang="en-US" altLang="zh-TW"/>
              <a:t>1236</a:t>
            </a:r>
          </a:p>
        </p:txBody>
      </p:sp>
      <p:sp>
        <p:nvSpPr>
          <p:cNvPr id="107528" name="Text Box 8"/>
          <p:cNvSpPr txBox="1">
            <a:spLocks noChangeArrowheads="1"/>
          </p:cNvSpPr>
          <p:nvPr/>
        </p:nvSpPr>
        <p:spPr bwMode="auto">
          <a:xfrm>
            <a:off x="1187450" y="3284538"/>
            <a:ext cx="1081088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dist">
              <a:spcBef>
                <a:spcPct val="50000"/>
              </a:spcBef>
            </a:pPr>
            <a:r>
              <a:rPr lang="en-US" altLang="zh-TW"/>
              <a:t>25</a:t>
            </a:r>
          </a:p>
        </p:txBody>
      </p:sp>
      <p:sp>
        <p:nvSpPr>
          <p:cNvPr id="107530" name="Text Box 10"/>
          <p:cNvSpPr txBox="1">
            <a:spLocks noChangeArrowheads="1"/>
          </p:cNvSpPr>
          <p:nvPr/>
        </p:nvSpPr>
        <p:spPr bwMode="auto">
          <a:xfrm>
            <a:off x="2987675" y="3284538"/>
            <a:ext cx="1081088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dist">
              <a:spcBef>
                <a:spcPct val="50000"/>
              </a:spcBef>
            </a:pPr>
            <a:r>
              <a:rPr lang="en-US" altLang="zh-TW"/>
              <a:t>46</a:t>
            </a:r>
          </a:p>
        </p:txBody>
      </p:sp>
      <p:sp>
        <p:nvSpPr>
          <p:cNvPr id="107531" name="Text Box 11"/>
          <p:cNvSpPr txBox="1">
            <a:spLocks noChangeArrowheads="1"/>
          </p:cNvSpPr>
          <p:nvPr/>
        </p:nvSpPr>
        <p:spPr bwMode="auto">
          <a:xfrm>
            <a:off x="5003800" y="3284538"/>
            <a:ext cx="1081088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dist">
              <a:spcBef>
                <a:spcPct val="50000"/>
              </a:spcBef>
            </a:pPr>
            <a:r>
              <a:rPr lang="en-US" altLang="zh-TW"/>
              <a:t>13</a:t>
            </a:r>
          </a:p>
        </p:txBody>
      </p:sp>
      <p:sp>
        <p:nvSpPr>
          <p:cNvPr id="107532" name="Text Box 12"/>
          <p:cNvSpPr txBox="1">
            <a:spLocks noChangeArrowheads="1"/>
          </p:cNvSpPr>
          <p:nvPr/>
        </p:nvSpPr>
        <p:spPr bwMode="auto">
          <a:xfrm>
            <a:off x="6732588" y="3284538"/>
            <a:ext cx="1081087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dist">
              <a:spcBef>
                <a:spcPct val="50000"/>
              </a:spcBef>
            </a:pPr>
            <a:r>
              <a:rPr lang="en-US" altLang="zh-TW"/>
              <a:t>26</a:t>
            </a:r>
          </a:p>
        </p:txBody>
      </p:sp>
      <p:sp>
        <p:nvSpPr>
          <p:cNvPr id="107533" name="Text Box 13"/>
          <p:cNvSpPr txBox="1">
            <a:spLocks noChangeArrowheads="1"/>
          </p:cNvSpPr>
          <p:nvPr/>
        </p:nvSpPr>
        <p:spPr bwMode="auto">
          <a:xfrm>
            <a:off x="1116013" y="4292600"/>
            <a:ext cx="431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dist">
              <a:spcBef>
                <a:spcPct val="50000"/>
              </a:spcBef>
            </a:pPr>
            <a:r>
              <a:rPr lang="en-US" altLang="zh-TW"/>
              <a:t>5</a:t>
            </a:r>
          </a:p>
        </p:txBody>
      </p:sp>
      <p:sp>
        <p:nvSpPr>
          <p:cNvPr id="107535" name="Text Box 15"/>
          <p:cNvSpPr txBox="1">
            <a:spLocks noChangeArrowheads="1"/>
          </p:cNvSpPr>
          <p:nvPr/>
        </p:nvSpPr>
        <p:spPr bwMode="auto">
          <a:xfrm>
            <a:off x="2051050" y="4292600"/>
            <a:ext cx="431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dist">
              <a:spcBef>
                <a:spcPct val="50000"/>
              </a:spcBef>
            </a:pPr>
            <a:r>
              <a:rPr lang="en-US" altLang="zh-TW"/>
              <a:t>2</a:t>
            </a:r>
          </a:p>
        </p:txBody>
      </p:sp>
      <p:sp>
        <p:nvSpPr>
          <p:cNvPr id="107536" name="Text Box 16"/>
          <p:cNvSpPr txBox="1">
            <a:spLocks noChangeArrowheads="1"/>
          </p:cNvSpPr>
          <p:nvPr/>
        </p:nvSpPr>
        <p:spPr bwMode="auto">
          <a:xfrm>
            <a:off x="2987675" y="4292600"/>
            <a:ext cx="431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dist">
              <a:spcBef>
                <a:spcPct val="50000"/>
              </a:spcBef>
            </a:pPr>
            <a:r>
              <a:rPr lang="en-US" altLang="zh-TW"/>
              <a:t>4</a:t>
            </a:r>
          </a:p>
        </p:txBody>
      </p:sp>
      <p:sp>
        <p:nvSpPr>
          <p:cNvPr id="107537" name="Text Box 17"/>
          <p:cNvSpPr txBox="1">
            <a:spLocks noChangeArrowheads="1"/>
          </p:cNvSpPr>
          <p:nvPr/>
        </p:nvSpPr>
        <p:spPr bwMode="auto">
          <a:xfrm>
            <a:off x="3851275" y="4292600"/>
            <a:ext cx="431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dist">
              <a:spcBef>
                <a:spcPct val="50000"/>
              </a:spcBef>
            </a:pPr>
            <a:r>
              <a:rPr lang="en-US" altLang="zh-TW"/>
              <a:t>6</a:t>
            </a:r>
          </a:p>
        </p:txBody>
      </p:sp>
      <p:sp>
        <p:nvSpPr>
          <p:cNvPr id="107538" name="Text Box 18"/>
          <p:cNvSpPr txBox="1">
            <a:spLocks noChangeArrowheads="1"/>
          </p:cNvSpPr>
          <p:nvPr/>
        </p:nvSpPr>
        <p:spPr bwMode="auto">
          <a:xfrm>
            <a:off x="4932363" y="4292600"/>
            <a:ext cx="431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dist">
              <a:spcBef>
                <a:spcPct val="50000"/>
              </a:spcBef>
            </a:pPr>
            <a:r>
              <a:rPr lang="en-US" altLang="zh-TW"/>
              <a:t>1</a:t>
            </a:r>
          </a:p>
        </p:txBody>
      </p:sp>
      <p:sp>
        <p:nvSpPr>
          <p:cNvPr id="107539" name="Text Box 19"/>
          <p:cNvSpPr txBox="1">
            <a:spLocks noChangeArrowheads="1"/>
          </p:cNvSpPr>
          <p:nvPr/>
        </p:nvSpPr>
        <p:spPr bwMode="auto">
          <a:xfrm>
            <a:off x="5867400" y="4292600"/>
            <a:ext cx="431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dist">
              <a:spcBef>
                <a:spcPct val="50000"/>
              </a:spcBef>
            </a:pPr>
            <a:r>
              <a:rPr lang="en-US" altLang="zh-TW"/>
              <a:t>3</a:t>
            </a:r>
          </a:p>
        </p:txBody>
      </p:sp>
      <p:sp>
        <p:nvSpPr>
          <p:cNvPr id="107540" name="Text Box 20"/>
          <p:cNvSpPr txBox="1">
            <a:spLocks noChangeArrowheads="1"/>
          </p:cNvSpPr>
          <p:nvPr/>
        </p:nvSpPr>
        <p:spPr bwMode="auto">
          <a:xfrm>
            <a:off x="6804025" y="4292600"/>
            <a:ext cx="431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dist">
              <a:spcBef>
                <a:spcPct val="50000"/>
              </a:spcBef>
            </a:pPr>
            <a:r>
              <a:rPr lang="en-US" altLang="zh-TW"/>
              <a:t>6</a:t>
            </a:r>
          </a:p>
        </p:txBody>
      </p:sp>
      <p:sp>
        <p:nvSpPr>
          <p:cNvPr id="107541" name="Text Box 21"/>
          <p:cNvSpPr txBox="1">
            <a:spLocks noChangeArrowheads="1"/>
          </p:cNvSpPr>
          <p:nvPr/>
        </p:nvSpPr>
        <p:spPr bwMode="auto">
          <a:xfrm>
            <a:off x="7667625" y="4292600"/>
            <a:ext cx="431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dist">
              <a:spcBef>
                <a:spcPct val="50000"/>
              </a:spcBef>
            </a:pPr>
            <a:r>
              <a:rPr lang="en-US" altLang="zh-TW"/>
              <a:t>2</a:t>
            </a:r>
          </a:p>
        </p:txBody>
      </p:sp>
      <p:cxnSp>
        <p:nvCxnSpPr>
          <p:cNvPr id="107542" name="AutoShape 22"/>
          <p:cNvCxnSpPr>
            <a:cxnSpLocks noChangeShapeType="1"/>
            <a:stCxn id="107533" idx="0"/>
            <a:endCxn id="107528" idx="2"/>
          </p:cNvCxnSpPr>
          <p:nvPr/>
        </p:nvCxnSpPr>
        <p:spPr bwMode="auto">
          <a:xfrm flipV="1">
            <a:off x="1331913" y="3660775"/>
            <a:ext cx="396875" cy="631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7543" name="AutoShape 23"/>
          <p:cNvCxnSpPr>
            <a:cxnSpLocks noChangeShapeType="1"/>
            <a:stCxn id="107535" idx="0"/>
            <a:endCxn id="107528" idx="2"/>
          </p:cNvCxnSpPr>
          <p:nvPr/>
        </p:nvCxnSpPr>
        <p:spPr bwMode="auto">
          <a:xfrm flipH="1" flipV="1">
            <a:off x="1728788" y="3660775"/>
            <a:ext cx="538162" cy="631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7544" name="AutoShape 24"/>
          <p:cNvCxnSpPr>
            <a:cxnSpLocks noChangeShapeType="1"/>
            <a:stCxn id="107537" idx="0"/>
            <a:endCxn id="107530" idx="2"/>
          </p:cNvCxnSpPr>
          <p:nvPr/>
        </p:nvCxnSpPr>
        <p:spPr bwMode="auto">
          <a:xfrm flipH="1" flipV="1">
            <a:off x="3529013" y="3660775"/>
            <a:ext cx="538162" cy="631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7545" name="AutoShape 25"/>
          <p:cNvCxnSpPr>
            <a:cxnSpLocks noChangeShapeType="1"/>
            <a:stCxn id="107536" idx="0"/>
            <a:endCxn id="107530" idx="2"/>
          </p:cNvCxnSpPr>
          <p:nvPr/>
        </p:nvCxnSpPr>
        <p:spPr bwMode="auto">
          <a:xfrm flipV="1">
            <a:off x="3203575" y="3660775"/>
            <a:ext cx="325438" cy="631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7546" name="AutoShape 26"/>
          <p:cNvCxnSpPr>
            <a:cxnSpLocks noChangeShapeType="1"/>
            <a:stCxn id="107538" idx="0"/>
            <a:endCxn id="107531" idx="2"/>
          </p:cNvCxnSpPr>
          <p:nvPr/>
        </p:nvCxnSpPr>
        <p:spPr bwMode="auto">
          <a:xfrm flipV="1">
            <a:off x="5148263" y="3660775"/>
            <a:ext cx="396875" cy="631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7547" name="AutoShape 27"/>
          <p:cNvCxnSpPr>
            <a:cxnSpLocks noChangeShapeType="1"/>
            <a:stCxn id="107539" idx="0"/>
            <a:endCxn id="107531" idx="2"/>
          </p:cNvCxnSpPr>
          <p:nvPr/>
        </p:nvCxnSpPr>
        <p:spPr bwMode="auto">
          <a:xfrm flipH="1" flipV="1">
            <a:off x="5545138" y="3660775"/>
            <a:ext cx="538162" cy="631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7548" name="AutoShape 28"/>
          <p:cNvCxnSpPr>
            <a:cxnSpLocks noChangeShapeType="1"/>
            <a:stCxn id="107540" idx="0"/>
            <a:endCxn id="107532" idx="2"/>
          </p:cNvCxnSpPr>
          <p:nvPr/>
        </p:nvCxnSpPr>
        <p:spPr bwMode="auto">
          <a:xfrm flipV="1">
            <a:off x="7019925" y="3660775"/>
            <a:ext cx="254000" cy="631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7549" name="AutoShape 29"/>
          <p:cNvCxnSpPr>
            <a:cxnSpLocks noChangeShapeType="1"/>
            <a:stCxn id="107541" idx="0"/>
            <a:endCxn id="107532" idx="2"/>
          </p:cNvCxnSpPr>
          <p:nvPr/>
        </p:nvCxnSpPr>
        <p:spPr bwMode="auto">
          <a:xfrm flipH="1" flipV="1">
            <a:off x="7273925" y="3660775"/>
            <a:ext cx="609600" cy="631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7550" name="AutoShape 30"/>
          <p:cNvCxnSpPr>
            <a:cxnSpLocks noChangeShapeType="1"/>
            <a:stCxn id="107528" idx="0"/>
            <a:endCxn id="107526" idx="2"/>
          </p:cNvCxnSpPr>
          <p:nvPr/>
        </p:nvCxnSpPr>
        <p:spPr bwMode="auto">
          <a:xfrm flipV="1">
            <a:off x="1728788" y="2436813"/>
            <a:ext cx="792162" cy="847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7551" name="AutoShape 31"/>
          <p:cNvCxnSpPr>
            <a:cxnSpLocks noChangeShapeType="1"/>
            <a:stCxn id="107530" idx="0"/>
            <a:endCxn id="107526" idx="2"/>
          </p:cNvCxnSpPr>
          <p:nvPr/>
        </p:nvCxnSpPr>
        <p:spPr bwMode="auto">
          <a:xfrm flipH="1" flipV="1">
            <a:off x="2520950" y="2436813"/>
            <a:ext cx="1008063" cy="847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7552" name="AutoShape 32"/>
          <p:cNvCxnSpPr>
            <a:cxnSpLocks noChangeShapeType="1"/>
            <a:stCxn id="107531" idx="0"/>
            <a:endCxn id="107527" idx="2"/>
          </p:cNvCxnSpPr>
          <p:nvPr/>
        </p:nvCxnSpPr>
        <p:spPr bwMode="auto">
          <a:xfrm flipV="1">
            <a:off x="5545138" y="2436813"/>
            <a:ext cx="431800" cy="847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7553" name="AutoShape 33"/>
          <p:cNvCxnSpPr>
            <a:cxnSpLocks noChangeShapeType="1"/>
            <a:stCxn id="107532" idx="0"/>
            <a:endCxn id="107527" idx="2"/>
          </p:cNvCxnSpPr>
          <p:nvPr/>
        </p:nvCxnSpPr>
        <p:spPr bwMode="auto">
          <a:xfrm flipH="1" flipV="1">
            <a:off x="5976938" y="2436813"/>
            <a:ext cx="1296987" cy="847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7554" name="AutoShape 34"/>
          <p:cNvCxnSpPr>
            <a:cxnSpLocks noChangeShapeType="1"/>
            <a:stCxn id="107526" idx="0"/>
            <a:endCxn id="107525" idx="2"/>
          </p:cNvCxnSpPr>
          <p:nvPr/>
        </p:nvCxnSpPr>
        <p:spPr bwMode="auto">
          <a:xfrm flipV="1">
            <a:off x="2520950" y="1141413"/>
            <a:ext cx="1871663" cy="919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7555" name="AutoShape 35"/>
          <p:cNvCxnSpPr>
            <a:cxnSpLocks noChangeShapeType="1"/>
            <a:stCxn id="107527" idx="0"/>
            <a:endCxn id="107525" idx="2"/>
          </p:cNvCxnSpPr>
          <p:nvPr/>
        </p:nvCxnSpPr>
        <p:spPr bwMode="auto">
          <a:xfrm flipH="1" flipV="1">
            <a:off x="4392613" y="1141413"/>
            <a:ext cx="1584325" cy="919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556" name="Text Box 36"/>
          <p:cNvSpPr txBox="1">
            <a:spLocks noChangeArrowheads="1"/>
          </p:cNvSpPr>
          <p:nvPr/>
        </p:nvSpPr>
        <p:spPr bwMode="auto">
          <a:xfrm>
            <a:off x="3492500" y="404813"/>
            <a:ext cx="1638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sorted sequence</a:t>
            </a:r>
          </a:p>
        </p:txBody>
      </p:sp>
      <p:sp>
        <p:nvSpPr>
          <p:cNvPr id="107557" name="Text Box 37"/>
          <p:cNvSpPr txBox="1">
            <a:spLocks noChangeArrowheads="1"/>
          </p:cNvSpPr>
          <p:nvPr/>
        </p:nvSpPr>
        <p:spPr bwMode="auto">
          <a:xfrm>
            <a:off x="3995738" y="1412875"/>
            <a:ext cx="755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merge</a:t>
            </a:r>
          </a:p>
        </p:txBody>
      </p:sp>
      <p:sp>
        <p:nvSpPr>
          <p:cNvPr id="107558" name="Text Box 38"/>
          <p:cNvSpPr txBox="1">
            <a:spLocks noChangeArrowheads="1"/>
          </p:cNvSpPr>
          <p:nvPr/>
        </p:nvSpPr>
        <p:spPr bwMode="auto">
          <a:xfrm>
            <a:off x="2195513" y="2781300"/>
            <a:ext cx="755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merge</a:t>
            </a:r>
          </a:p>
        </p:txBody>
      </p:sp>
      <p:sp>
        <p:nvSpPr>
          <p:cNvPr id="107559" name="Text Box 39"/>
          <p:cNvSpPr txBox="1">
            <a:spLocks noChangeArrowheads="1"/>
          </p:cNvSpPr>
          <p:nvPr/>
        </p:nvSpPr>
        <p:spPr bwMode="auto">
          <a:xfrm>
            <a:off x="5795963" y="2781300"/>
            <a:ext cx="755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merge</a:t>
            </a:r>
          </a:p>
        </p:txBody>
      </p:sp>
      <p:sp>
        <p:nvSpPr>
          <p:cNvPr id="107560" name="Text Box 40"/>
          <p:cNvSpPr txBox="1">
            <a:spLocks noChangeArrowheads="1"/>
          </p:cNvSpPr>
          <p:nvPr/>
        </p:nvSpPr>
        <p:spPr bwMode="auto">
          <a:xfrm>
            <a:off x="1403350" y="3860800"/>
            <a:ext cx="755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merge</a:t>
            </a:r>
          </a:p>
        </p:txBody>
      </p:sp>
      <p:sp>
        <p:nvSpPr>
          <p:cNvPr id="107561" name="Text Box 41"/>
          <p:cNvSpPr txBox="1">
            <a:spLocks noChangeArrowheads="1"/>
          </p:cNvSpPr>
          <p:nvPr/>
        </p:nvSpPr>
        <p:spPr bwMode="auto">
          <a:xfrm>
            <a:off x="3276600" y="3860800"/>
            <a:ext cx="755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merge</a:t>
            </a:r>
          </a:p>
        </p:txBody>
      </p:sp>
      <p:sp>
        <p:nvSpPr>
          <p:cNvPr id="107562" name="Text Box 42"/>
          <p:cNvSpPr txBox="1">
            <a:spLocks noChangeArrowheads="1"/>
          </p:cNvSpPr>
          <p:nvPr/>
        </p:nvSpPr>
        <p:spPr bwMode="auto">
          <a:xfrm>
            <a:off x="5219700" y="3860800"/>
            <a:ext cx="755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merge</a:t>
            </a:r>
          </a:p>
        </p:txBody>
      </p:sp>
      <p:sp>
        <p:nvSpPr>
          <p:cNvPr id="107563" name="Text Box 43"/>
          <p:cNvSpPr txBox="1">
            <a:spLocks noChangeArrowheads="1"/>
          </p:cNvSpPr>
          <p:nvPr/>
        </p:nvSpPr>
        <p:spPr bwMode="auto">
          <a:xfrm>
            <a:off x="7019925" y="3860800"/>
            <a:ext cx="755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merge</a:t>
            </a:r>
          </a:p>
        </p:txBody>
      </p:sp>
      <p:sp>
        <p:nvSpPr>
          <p:cNvPr id="107565" name="Text Box 45"/>
          <p:cNvSpPr txBox="1">
            <a:spLocks noChangeArrowheads="1"/>
          </p:cNvSpPr>
          <p:nvPr/>
        </p:nvSpPr>
        <p:spPr bwMode="auto">
          <a:xfrm>
            <a:off x="971550" y="5300663"/>
            <a:ext cx="71294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TW" altLang="en-US" sz="2000"/>
              <a:t>被合併起來的排序好的數列長度會由下往上遞增。</a:t>
            </a:r>
            <a:r>
              <a:rPr lang="en-US" altLang="zh-TW" sz="2000"/>
              <a:t>(</a:t>
            </a:r>
            <a:r>
              <a:rPr lang="zh-TW" altLang="en-US" sz="2000"/>
              <a:t>例如：最底層為 </a:t>
            </a:r>
            <a:r>
              <a:rPr lang="en-US" altLang="zh-TW" sz="2000"/>
              <a:t>1</a:t>
            </a:r>
            <a:r>
              <a:rPr lang="zh-TW" altLang="en-US" sz="2000"/>
              <a:t>，倒數第二層為 </a:t>
            </a:r>
            <a:r>
              <a:rPr lang="en-US" altLang="zh-TW" sz="2000"/>
              <a:t>2</a:t>
            </a:r>
            <a:r>
              <a:rPr lang="zh-TW" altLang="en-US" sz="2000"/>
              <a:t>，最上層則為 </a:t>
            </a:r>
            <a:r>
              <a:rPr lang="en-US" altLang="zh-TW" sz="2000"/>
              <a:t>8)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Getting Started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07ED2-E984-46FC-9EF9-3AB45A0F5EE2}" type="slidenum">
              <a:rPr lang="en-US" altLang="zh-TW"/>
              <a:pPr/>
              <a:t>11</a:t>
            </a:fld>
            <a:endParaRPr lang="en-US" altLang="zh-TW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765175"/>
            <a:ext cx="8353425" cy="5327650"/>
          </a:xfrm>
        </p:spPr>
        <p:txBody>
          <a:bodyPr/>
          <a:lstStyle/>
          <a:p>
            <a:pPr marL="609600" indent="-609600">
              <a:buFontTx/>
              <a:buNone/>
            </a:pPr>
            <a:r>
              <a:rPr lang="en-US" altLang="zh-TW" sz="2800" b="1"/>
              <a:t>Analysis: (</a:t>
            </a:r>
            <a:r>
              <a:rPr lang="en-US" altLang="zh-TW" sz="2800" b="1" i="1"/>
              <a:t>recurrence</a:t>
            </a:r>
            <a:r>
              <a:rPr lang="en-US" altLang="zh-TW" sz="2800" b="1"/>
              <a:t>)</a:t>
            </a:r>
            <a:endParaRPr lang="en-US" altLang="zh-TW" sz="2800" i="1"/>
          </a:p>
          <a:p>
            <a:pPr marL="609600" indent="-609600">
              <a:buFontTx/>
              <a:buNone/>
            </a:pPr>
            <a:endParaRPr lang="en-US" altLang="zh-TW" sz="2800" i="1"/>
          </a:p>
          <a:p>
            <a:pPr marL="609600" indent="-609600">
              <a:buFontTx/>
              <a:buNone/>
            </a:pPr>
            <a:r>
              <a:rPr lang="en-US" altLang="zh-TW" sz="2800" i="1"/>
              <a:t>T</a:t>
            </a:r>
            <a:r>
              <a:rPr lang="en-US" altLang="zh-TW" sz="2800"/>
              <a:t>(</a:t>
            </a:r>
            <a:r>
              <a:rPr lang="en-US" altLang="zh-TW" sz="2800" i="1"/>
              <a:t>n</a:t>
            </a:r>
            <a:r>
              <a:rPr lang="en-US" altLang="zh-TW" sz="2800"/>
              <a:t>)		=		</a:t>
            </a:r>
          </a:p>
          <a:p>
            <a:pPr marL="609600" indent="-609600">
              <a:buFontTx/>
              <a:buNone/>
            </a:pPr>
            <a:endParaRPr lang="en-US" altLang="zh-TW" sz="2800"/>
          </a:p>
          <a:p>
            <a:pPr marL="609600" indent="-609600">
              <a:buFontTx/>
              <a:buNone/>
            </a:pPr>
            <a:r>
              <a:rPr lang="en-US" altLang="zh-TW" sz="2800"/>
              <a:t>			=   </a:t>
            </a:r>
            <a:r>
              <a:rPr lang="en-US" altLang="zh-TW" sz="2800">
                <a:sym typeface="Symbol" pitchFamily="18" charset="2"/>
              </a:rPr>
              <a:t></a:t>
            </a:r>
            <a:r>
              <a:rPr lang="en-US" altLang="zh-TW" sz="2800"/>
              <a:t>(</a:t>
            </a:r>
            <a:r>
              <a:rPr lang="en-US" altLang="zh-TW" sz="2800" i="1"/>
              <a:t>n</a:t>
            </a:r>
            <a:r>
              <a:rPr lang="en-US" altLang="zh-TW" sz="2800"/>
              <a:t>log </a:t>
            </a:r>
            <a:r>
              <a:rPr lang="en-US" altLang="zh-TW" sz="2800" i="1"/>
              <a:t>n</a:t>
            </a:r>
            <a:r>
              <a:rPr lang="en-US" altLang="zh-TW" sz="2800"/>
              <a:t>)</a:t>
            </a:r>
            <a:endParaRPr lang="el-GR" altLang="zh-TW" sz="2800"/>
          </a:p>
        </p:txBody>
      </p:sp>
      <p:graphicFrame>
        <p:nvGraphicFramePr>
          <p:cNvPr id="39945" name="Object 9"/>
          <p:cNvGraphicFramePr>
            <a:graphicFrameLocks noChangeAspect="1"/>
          </p:cNvGraphicFramePr>
          <p:nvPr/>
        </p:nvGraphicFramePr>
        <p:xfrm>
          <a:off x="2771775" y="1628775"/>
          <a:ext cx="4319588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2019240" imgH="457200" progId="Equation.3">
                  <p:embed/>
                </p:oleObj>
              </mc:Choice>
              <mc:Fallback>
                <p:oleObj name="方程式" r:id="rId3" imgW="2019240" imgH="457200" progId="Equation.3">
                  <p:embed/>
                  <p:pic>
                    <p:nvPicPr>
                      <p:cNvPr id="3994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1628775"/>
                        <a:ext cx="4319588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Getting Started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5CD31-80D9-4285-9812-E5779304529C}" type="slidenum">
              <a:rPr lang="en-US" altLang="zh-TW"/>
              <a:pPr/>
              <a:t>12</a:t>
            </a:fld>
            <a:endParaRPr lang="en-US" altLang="zh-TW"/>
          </a:p>
        </p:txBody>
      </p:sp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Exercises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7488" y="1341438"/>
            <a:ext cx="8675687" cy="5183187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TW" sz="2800" b="1" dirty="0"/>
              <a:t>Problem 1:</a:t>
            </a:r>
          </a:p>
          <a:p>
            <a:pPr>
              <a:buFontTx/>
              <a:buNone/>
            </a:pPr>
            <a:r>
              <a:rPr lang="en-US" altLang="zh-TW" sz="2400" dirty="0">
                <a:latin typeface="標楷體" pitchFamily="65" charset="-120"/>
              </a:rPr>
              <a:t>	</a:t>
            </a:r>
            <a:r>
              <a:rPr lang="zh-TW" altLang="en-US" sz="2400" dirty="0">
                <a:latin typeface="標楷體" pitchFamily="65" charset="-120"/>
              </a:rPr>
              <a:t>給定一行由</a:t>
            </a:r>
            <a:r>
              <a:rPr lang="en-US" altLang="zh-TW" sz="2400" dirty="0">
                <a:latin typeface="標楷體" pitchFamily="65" charset="-120"/>
              </a:rPr>
              <a:t>A</a:t>
            </a:r>
            <a:r>
              <a:rPr lang="zh-TW" altLang="en-US" sz="2400" dirty="0">
                <a:latin typeface="標楷體" pitchFamily="65" charset="-120"/>
              </a:rPr>
              <a:t>到</a:t>
            </a:r>
            <a:r>
              <a:rPr lang="en-US" altLang="zh-TW" sz="2400" dirty="0">
                <a:latin typeface="標楷體" pitchFamily="65" charset="-120"/>
              </a:rPr>
              <a:t>Z</a:t>
            </a:r>
            <a:r>
              <a:rPr lang="zh-TW" altLang="en-US" sz="2400" dirty="0">
                <a:latin typeface="標楷體" pitchFamily="65" charset="-120"/>
              </a:rPr>
              <a:t>二十六個字母構成的字串，請你幫忙列字元的出現頻率。每一行文字的後面可能會以 </a:t>
            </a:r>
            <a:r>
              <a:rPr lang="zh-TW" altLang="en-US" sz="2400" dirty="0">
                <a:latin typeface="Times New Roman"/>
              </a:rPr>
              <a:t>’</a:t>
            </a:r>
            <a:r>
              <a:rPr lang="en-US" altLang="zh-TW" sz="2400" dirty="0">
                <a:latin typeface="標楷體" pitchFamily="65" charset="-120"/>
              </a:rPr>
              <a:t>\n</a:t>
            </a:r>
            <a:r>
              <a:rPr lang="en-US" altLang="zh-TW" sz="2400" dirty="0">
                <a:latin typeface="Times New Roman"/>
              </a:rPr>
              <a:t>’</a:t>
            </a:r>
            <a:r>
              <a:rPr lang="en-US" altLang="zh-TW" sz="2400" dirty="0">
                <a:latin typeface="標楷體" pitchFamily="65" charset="-120"/>
              </a:rPr>
              <a:t> </a:t>
            </a:r>
            <a:r>
              <a:rPr lang="zh-TW" altLang="en-US" sz="2400" dirty="0">
                <a:latin typeface="標楷體" pitchFamily="65" charset="-120"/>
              </a:rPr>
              <a:t>和 </a:t>
            </a:r>
            <a:r>
              <a:rPr lang="zh-TW" altLang="en-US" sz="2400" dirty="0">
                <a:latin typeface="Times New Roman"/>
              </a:rPr>
              <a:t>’</a:t>
            </a:r>
            <a:r>
              <a:rPr lang="en-US" altLang="zh-TW" sz="2400" dirty="0">
                <a:latin typeface="標楷體" pitchFamily="65" charset="-120"/>
              </a:rPr>
              <a:t>\r</a:t>
            </a:r>
            <a:r>
              <a:rPr lang="en-US" altLang="zh-TW" sz="2400" dirty="0">
                <a:latin typeface="Times New Roman"/>
              </a:rPr>
              <a:t>’</a:t>
            </a:r>
            <a:r>
              <a:rPr lang="en-US" altLang="zh-TW" sz="2400" dirty="0">
                <a:latin typeface="標楷體" pitchFamily="65" charset="-120"/>
              </a:rPr>
              <a:t> </a:t>
            </a:r>
            <a:r>
              <a:rPr lang="zh-TW" altLang="en-US" sz="2400" dirty="0">
                <a:latin typeface="標楷體" pitchFamily="65" charset="-120"/>
              </a:rPr>
              <a:t>結束，但是不用把那些字元考慮進去。</a:t>
            </a:r>
          </a:p>
          <a:p>
            <a:pPr>
              <a:buFontTx/>
              <a:buNone/>
            </a:pPr>
            <a:endParaRPr lang="zh-TW" altLang="en-US" sz="2400" dirty="0">
              <a:latin typeface="標楷體" pitchFamily="65" charset="-120"/>
            </a:endParaRPr>
          </a:p>
          <a:p>
            <a:pPr>
              <a:buFontTx/>
              <a:buNone/>
            </a:pPr>
            <a:r>
              <a:rPr lang="zh-TW" altLang="en-US" sz="2400" dirty="0">
                <a:latin typeface="標楷體" pitchFamily="65" charset="-120"/>
              </a:rPr>
              <a:t>	</a:t>
            </a:r>
            <a:r>
              <a:rPr lang="zh-TW" altLang="en-US" sz="2400" b="1" dirty="0">
                <a:latin typeface="標楷體" pitchFamily="65" charset="-120"/>
              </a:rPr>
              <a:t>輸入：</a:t>
            </a:r>
            <a:r>
              <a:rPr lang="zh-TW" altLang="en-US" sz="2400" dirty="0">
                <a:latin typeface="標楷體" pitchFamily="65" charset="-120"/>
              </a:rPr>
              <a:t>會給好幾行文字。每一行的長度最大會到 </a:t>
            </a:r>
            <a:r>
              <a:rPr lang="en-US" altLang="zh-TW" sz="2400" dirty="0">
                <a:latin typeface="標楷體" pitchFamily="65" charset="-120"/>
              </a:rPr>
              <a:t>1000</a:t>
            </a:r>
            <a:r>
              <a:rPr lang="zh-TW" altLang="en-US" sz="2400" dirty="0">
                <a:latin typeface="標楷體" pitchFamily="65" charset="-120"/>
              </a:rPr>
              <a:t>。輸入以檔案結尾為結束。</a:t>
            </a:r>
          </a:p>
          <a:p>
            <a:pPr>
              <a:buFontTx/>
              <a:buNone/>
            </a:pPr>
            <a:r>
              <a:rPr lang="zh-TW" altLang="en-US" sz="2400" dirty="0">
                <a:latin typeface="標楷體" pitchFamily="65" charset="-120"/>
              </a:rPr>
              <a:t>	</a:t>
            </a:r>
            <a:r>
              <a:rPr lang="zh-TW" altLang="en-US" sz="2400" b="1" dirty="0">
                <a:latin typeface="標楷體" pitchFamily="65" charset="-120"/>
              </a:rPr>
              <a:t>輸出：</a:t>
            </a:r>
            <a:r>
              <a:rPr lang="zh-TW" altLang="en-US" sz="2400" dirty="0">
                <a:latin typeface="標楷體" pitchFamily="65" charset="-120"/>
              </a:rPr>
              <a:t>對於每一行輸入，根據出現的頻率高低印出字元的 </a:t>
            </a:r>
            <a:r>
              <a:rPr lang="en-US" altLang="zh-TW" sz="2400" dirty="0">
                <a:latin typeface="標楷體" pitchFamily="65" charset="-120"/>
              </a:rPr>
              <a:t>ASCII </a:t>
            </a:r>
            <a:r>
              <a:rPr lang="zh-TW" altLang="en-US" sz="2400" dirty="0">
                <a:latin typeface="標楷體" pitchFamily="65" charset="-120"/>
              </a:rPr>
              <a:t>值以及該字元出現的頻率</a:t>
            </a:r>
            <a:r>
              <a:rPr lang="en-US" altLang="zh-TW" sz="2400" dirty="0">
                <a:latin typeface="標楷體" pitchFamily="65" charset="-120"/>
              </a:rPr>
              <a:t>(</a:t>
            </a:r>
            <a:r>
              <a:rPr lang="zh-TW" altLang="en-US" sz="2400" dirty="0">
                <a:latin typeface="標楷體" pitchFamily="65" charset="-120"/>
              </a:rPr>
              <a:t>頻率高的先印</a:t>
            </a:r>
            <a:r>
              <a:rPr lang="en-US" altLang="zh-TW" sz="2400" dirty="0">
                <a:latin typeface="標楷體" pitchFamily="65" charset="-120"/>
              </a:rPr>
              <a:t>)</a:t>
            </a:r>
            <a:r>
              <a:rPr lang="zh-TW" altLang="en-US" sz="2400" dirty="0">
                <a:latin typeface="標楷體" pitchFamily="65" charset="-120"/>
              </a:rPr>
              <a:t>。在每組輸出之間要印一個空行。如果兩個字元有相同的頻率，那麼 </a:t>
            </a:r>
            <a:r>
              <a:rPr lang="en-US" altLang="zh-TW" sz="2400" dirty="0">
                <a:latin typeface="標楷體" pitchFamily="65" charset="-120"/>
              </a:rPr>
              <a:t>ASCII </a:t>
            </a:r>
            <a:r>
              <a:rPr lang="zh-TW" altLang="en-US" sz="2400" dirty="0">
                <a:latin typeface="標楷體" pitchFamily="65" charset="-120"/>
              </a:rPr>
              <a:t>值比較小的優先印出。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Getting Started</a:t>
            </a:r>
          </a:p>
        </p:txBody>
      </p:sp>
      <p:sp>
        <p:nvSpPr>
          <p:cNvPr id="1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377DC-6820-4FA7-8467-25492F50663B}" type="slidenum">
              <a:rPr lang="en-US" altLang="zh-TW"/>
              <a:pPr/>
              <a:t>13</a:t>
            </a:fld>
            <a:endParaRPr lang="en-US" altLang="zh-TW"/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5288" y="404813"/>
            <a:ext cx="8229600" cy="4525962"/>
          </a:xfrm>
        </p:spPr>
        <p:txBody>
          <a:bodyPr/>
          <a:lstStyle/>
          <a:p>
            <a:pPr>
              <a:buFontTx/>
              <a:buNone/>
            </a:pPr>
            <a:r>
              <a:rPr lang="zh-TW" altLang="en-US" sz="2800"/>
              <a:t>以下是一個輸出入的實例</a:t>
            </a:r>
            <a:r>
              <a:rPr lang="en-US" altLang="zh-TW" sz="2800"/>
              <a:t>:</a:t>
            </a:r>
          </a:p>
        </p:txBody>
      </p:sp>
      <p:graphicFrame>
        <p:nvGraphicFramePr>
          <p:cNvPr id="89091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751024"/>
              </p:ext>
            </p:extLst>
          </p:nvPr>
        </p:nvGraphicFramePr>
        <p:xfrm>
          <a:off x="684213" y="1233488"/>
          <a:ext cx="7777162" cy="4500563"/>
        </p:xfrm>
        <a:graphic>
          <a:graphicData uri="http://schemas.openxmlformats.org/drawingml/2006/table">
            <a:tbl>
              <a:tblPr/>
              <a:tblGrid>
                <a:gridCol w="4043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5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Sample Input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Sample Output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AAABBC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AX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6</a:t>
                      </a: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5</a:t>
                      </a:r>
                      <a:r>
                        <a:rPr kumimoji="1" lang="zh-TW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 </a:t>
                      </a: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3</a:t>
                      </a:r>
                      <a:endParaRPr kumimoji="1" lang="zh-TW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標楷體" pitchFamily="65" charset="-120"/>
                        <a:cs typeface="Courier New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66 2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6</a:t>
                      </a: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7</a:t>
                      </a:r>
                      <a:r>
                        <a:rPr kumimoji="1" lang="zh-TW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 </a:t>
                      </a: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1</a:t>
                      </a:r>
                      <a:endParaRPr kumimoji="1" lang="zh-TW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標楷體" pitchFamily="65" charset="-120"/>
                        <a:cs typeface="Courier New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標楷體" pitchFamily="65" charset="-120"/>
                        <a:cs typeface="Courier New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65</a:t>
                      </a:r>
                      <a:r>
                        <a:rPr kumimoji="1" lang="zh-TW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91 1</a:t>
                      </a:r>
                      <a:endParaRPr kumimoji="1" lang="zh-TW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標楷體" pitchFamily="65" charset="-120"/>
                        <a:cs typeface="Courier New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標楷體" pitchFamily="65" charset="-12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Getting Started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07E00-CC21-4F58-A176-6CC535CCB467}" type="slidenum">
              <a:rPr lang="en-US" altLang="zh-TW"/>
              <a:pPr/>
              <a:t>14</a:t>
            </a:fld>
            <a:endParaRPr lang="en-US" altLang="zh-TW"/>
          </a:p>
        </p:txBody>
      </p:sp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Exercises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7488" y="1341438"/>
            <a:ext cx="8675687" cy="5183187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TW" sz="2800" b="1" dirty="0"/>
              <a:t>Problem 2:</a:t>
            </a:r>
            <a:endParaRPr lang="en-US" altLang="zh-TW" sz="2400" dirty="0"/>
          </a:p>
          <a:p>
            <a:pPr>
              <a:buFontTx/>
              <a:buNone/>
            </a:pPr>
            <a:r>
              <a:rPr lang="en-US" altLang="zh-TW" sz="2400" dirty="0"/>
              <a:t>	</a:t>
            </a:r>
            <a:r>
              <a:rPr lang="zh-TW" altLang="en-US" sz="2400" dirty="0"/>
              <a:t>測量一個序列“亂”的程度的方法是算出有幾對數字不是依照順序排好的。例如，在序列</a:t>
            </a:r>
            <a:r>
              <a:rPr lang="zh-TW" altLang="en-US" sz="2400" dirty="0">
                <a:latin typeface="標楷體"/>
              </a:rPr>
              <a:t>”</a:t>
            </a:r>
            <a:r>
              <a:rPr lang="en-US" altLang="zh-TW" sz="2400" dirty="0"/>
              <a:t>DAABEC</a:t>
            </a:r>
            <a:r>
              <a:rPr lang="en-US" altLang="zh-TW" sz="2400" dirty="0">
                <a:latin typeface="標楷體"/>
              </a:rPr>
              <a:t>”</a:t>
            </a:r>
            <a:r>
              <a:rPr lang="zh-TW" altLang="en-US" sz="2400" dirty="0"/>
              <a:t>中，依照上面的度量方法亂度是 </a:t>
            </a:r>
            <a:r>
              <a:rPr lang="en-US" altLang="zh-TW" sz="2400" dirty="0"/>
              <a:t>5</a:t>
            </a:r>
            <a:r>
              <a:rPr lang="zh-TW" altLang="en-US" sz="2400" dirty="0"/>
              <a:t>，因為 </a:t>
            </a:r>
            <a:r>
              <a:rPr lang="en-US" altLang="zh-TW" sz="2400" dirty="0"/>
              <a:t>D </a:t>
            </a:r>
            <a:r>
              <a:rPr lang="zh-TW" altLang="en-US" sz="2400" dirty="0"/>
              <a:t>比它右邊的四個字母還大，</a:t>
            </a:r>
            <a:r>
              <a:rPr lang="en-US" altLang="zh-TW" sz="2400" dirty="0"/>
              <a:t>E </a:t>
            </a:r>
            <a:r>
              <a:rPr lang="zh-TW" altLang="en-US" sz="2400" dirty="0"/>
              <a:t>也比右邊的一個字母大。其實這亂度的算法就是這個序列的 </a:t>
            </a:r>
            <a:r>
              <a:rPr lang="en-US" altLang="zh-TW" sz="2400" dirty="0"/>
              <a:t>inversion </a:t>
            </a:r>
            <a:r>
              <a:rPr lang="zh-TW" altLang="en-US" sz="2400" dirty="0"/>
              <a:t>數目。序列</a:t>
            </a:r>
            <a:r>
              <a:rPr lang="en-US" altLang="zh-TW" sz="2400" dirty="0">
                <a:solidFill>
                  <a:srgbClr val="FF0000"/>
                </a:solidFill>
              </a:rPr>
              <a:t>AACEDGG</a:t>
            </a:r>
            <a:r>
              <a:rPr lang="zh-TW" altLang="en-US" sz="2400" dirty="0"/>
              <a:t>只有一個 </a:t>
            </a:r>
            <a:r>
              <a:rPr lang="en-US" altLang="zh-TW" sz="2400" dirty="0"/>
              <a:t>inversion (E </a:t>
            </a:r>
            <a:r>
              <a:rPr lang="zh-TW" altLang="en-US" sz="2400" dirty="0"/>
              <a:t>和 </a:t>
            </a:r>
            <a:r>
              <a:rPr lang="en-US" altLang="zh-TW" sz="2400" dirty="0"/>
              <a:t>D)</a:t>
            </a:r>
            <a:r>
              <a:rPr lang="zh-TW" altLang="en-US" sz="2400" dirty="0"/>
              <a:t>，幾乎是排序好的；然而</a:t>
            </a:r>
            <a:r>
              <a:rPr lang="zh-TW" altLang="en-US" sz="2400" dirty="0">
                <a:latin typeface="標楷體"/>
              </a:rPr>
              <a:t>”</a:t>
            </a:r>
            <a:r>
              <a:rPr lang="en-US" altLang="zh-TW" sz="2400" dirty="0"/>
              <a:t>ZWQM</a:t>
            </a:r>
            <a:r>
              <a:rPr lang="en-US" altLang="zh-TW" sz="2400" dirty="0">
                <a:latin typeface="標楷體"/>
              </a:rPr>
              <a:t>”</a:t>
            </a:r>
            <a:r>
              <a:rPr lang="zh-TW" altLang="en-US" sz="2400" dirty="0"/>
              <a:t>有六個 </a:t>
            </a:r>
            <a:r>
              <a:rPr lang="en-US" altLang="zh-TW" sz="2400" dirty="0"/>
              <a:t>inversion (</a:t>
            </a:r>
            <a:r>
              <a:rPr lang="zh-TW" altLang="en-US" sz="2400" dirty="0"/>
              <a:t>幾乎沒有排序，事實上正好是排序好的相反</a:t>
            </a:r>
            <a:r>
              <a:rPr lang="en-US" altLang="zh-TW" sz="2400" dirty="0"/>
              <a:t>) </a:t>
            </a:r>
            <a:r>
              <a:rPr lang="zh-TW" altLang="en-US" sz="2400" dirty="0"/>
              <a:t>。</a:t>
            </a:r>
          </a:p>
          <a:p>
            <a:pPr>
              <a:buFontTx/>
              <a:buNone/>
            </a:pPr>
            <a:r>
              <a:rPr lang="zh-TW" altLang="en-US" sz="2400" dirty="0"/>
              <a:t>	你負責要分類一堆 </a:t>
            </a:r>
            <a:r>
              <a:rPr lang="en-US" altLang="zh-TW" sz="2400" dirty="0"/>
              <a:t>DNA </a:t>
            </a:r>
            <a:r>
              <a:rPr lang="zh-TW" altLang="en-US" sz="2400" dirty="0"/>
              <a:t>序列（序列只由 </a:t>
            </a:r>
            <a:r>
              <a:rPr lang="en-US" altLang="zh-TW" sz="2400" dirty="0"/>
              <a:t>A, T, C, G </a:t>
            </a:r>
            <a:r>
              <a:rPr lang="zh-TW" altLang="en-US" sz="2400" dirty="0"/>
              <a:t>四個字母構成）。然而，你不是要根據字典順序排序這些序列，而是要根據他們的</a:t>
            </a:r>
            <a:r>
              <a:rPr lang="zh-TW" altLang="en-US" sz="2400" dirty="0">
                <a:latin typeface="標楷體"/>
              </a:rPr>
              <a:t>”</a:t>
            </a:r>
            <a:r>
              <a:rPr lang="zh-TW" altLang="en-US" sz="2400" dirty="0"/>
              <a:t>不亂程度</a:t>
            </a:r>
            <a:r>
              <a:rPr lang="zh-TW" altLang="en-US" sz="2400" dirty="0">
                <a:latin typeface="標楷體"/>
              </a:rPr>
              <a:t>”</a:t>
            </a:r>
            <a:r>
              <a:rPr lang="zh-TW" altLang="en-US" sz="2400" dirty="0"/>
              <a:t>，從</a:t>
            </a:r>
            <a:r>
              <a:rPr lang="zh-TW" altLang="en-US" sz="2400" dirty="0">
                <a:latin typeface="標楷體"/>
              </a:rPr>
              <a:t>”</a:t>
            </a:r>
            <a:r>
              <a:rPr lang="zh-TW" altLang="en-US" sz="2400" dirty="0"/>
              <a:t>最接近排序好的序列</a:t>
            </a:r>
            <a:r>
              <a:rPr lang="zh-TW" altLang="en-US" sz="2400" dirty="0">
                <a:latin typeface="標楷體"/>
              </a:rPr>
              <a:t>”</a:t>
            </a:r>
            <a:r>
              <a:rPr lang="zh-TW" altLang="en-US" sz="2400" dirty="0"/>
              <a:t>到</a:t>
            </a:r>
            <a:r>
              <a:rPr lang="zh-TW" altLang="en-US" sz="2400" dirty="0">
                <a:latin typeface="標楷體"/>
              </a:rPr>
              <a:t>”</a:t>
            </a:r>
            <a:r>
              <a:rPr lang="zh-TW" altLang="en-US" sz="2400" dirty="0"/>
              <a:t>幾乎沒有排序好的序列</a:t>
            </a:r>
            <a:r>
              <a:rPr lang="zh-TW" altLang="en-US" sz="2400" dirty="0">
                <a:latin typeface="標楷體"/>
              </a:rPr>
              <a:t>”</a:t>
            </a:r>
            <a:r>
              <a:rPr lang="zh-TW" altLang="en-US" sz="2400" dirty="0"/>
              <a:t>依序列出。所有的序列都有相同的長度。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Getting Started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C116C-123B-4E51-91B1-AC8FB166C139}" type="slidenum">
              <a:rPr lang="en-US" altLang="zh-TW"/>
              <a:pPr/>
              <a:t>15</a:t>
            </a:fld>
            <a:endParaRPr lang="en-US" altLang="zh-TW"/>
          </a:p>
        </p:txBody>
      </p:sp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Exercises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7488" y="1341438"/>
            <a:ext cx="8675687" cy="5183187"/>
          </a:xfrm>
        </p:spPr>
        <p:txBody>
          <a:bodyPr/>
          <a:lstStyle/>
          <a:p>
            <a:pPr>
              <a:buFontTx/>
              <a:buNone/>
            </a:pPr>
            <a:endParaRPr lang="en-US" altLang="zh-TW" sz="2400" dirty="0"/>
          </a:p>
          <a:p>
            <a:pPr>
              <a:buFontTx/>
              <a:buNone/>
            </a:pPr>
            <a:r>
              <a:rPr lang="en-US" altLang="zh-TW" sz="2400" dirty="0"/>
              <a:t>	</a:t>
            </a:r>
            <a:r>
              <a:rPr lang="zh-TW" altLang="en-US" sz="2400" b="1" dirty="0"/>
              <a:t>輸入：</a:t>
            </a:r>
            <a:r>
              <a:rPr lang="zh-TW" altLang="en-US" sz="2400" dirty="0"/>
              <a:t>第一行是一個整數 </a:t>
            </a:r>
            <a:r>
              <a:rPr lang="en-US" altLang="zh-TW" sz="2400" i="1" dirty="0"/>
              <a:t>M</a:t>
            </a:r>
            <a:r>
              <a:rPr lang="zh-TW" altLang="en-US" sz="2400" dirty="0"/>
              <a:t>，然後在一個空行之後會接著 </a:t>
            </a:r>
            <a:r>
              <a:rPr lang="en-US" altLang="zh-TW" sz="2400" i="1" dirty="0"/>
              <a:t>M</a:t>
            </a:r>
            <a:r>
              <a:rPr lang="en-US" altLang="zh-TW" sz="2400" dirty="0"/>
              <a:t> </a:t>
            </a:r>
            <a:r>
              <a:rPr lang="zh-TW" altLang="en-US" sz="2400" dirty="0"/>
              <a:t>組測資。在每組測資之間會有一個空行當作間隔。每組測資的第一行包含兩個正整數：</a:t>
            </a:r>
            <a:r>
              <a:rPr lang="en-US" altLang="zh-TW" sz="2400" i="1" dirty="0"/>
              <a:t>n</a:t>
            </a:r>
            <a:r>
              <a:rPr lang="en-US" altLang="zh-TW" sz="2400" dirty="0"/>
              <a:t> (0 &lt; </a:t>
            </a:r>
            <a:r>
              <a:rPr lang="en-US" altLang="zh-TW" sz="2400" i="1" dirty="0"/>
              <a:t>n</a:t>
            </a:r>
            <a:r>
              <a:rPr lang="en-US" altLang="zh-TW" sz="2400" dirty="0"/>
              <a:t> ≤ 50) </a:t>
            </a:r>
            <a:r>
              <a:rPr lang="zh-TW" altLang="en-US" sz="2400" dirty="0"/>
              <a:t>表示序列的長度；</a:t>
            </a:r>
            <a:r>
              <a:rPr lang="en-US" altLang="zh-TW" sz="2400" i="1" dirty="0"/>
              <a:t>m</a:t>
            </a:r>
            <a:r>
              <a:rPr lang="en-US" altLang="zh-TW" sz="2400" dirty="0"/>
              <a:t> (0 &lt; </a:t>
            </a:r>
            <a:r>
              <a:rPr lang="en-US" altLang="zh-TW" sz="2400" i="1" dirty="0"/>
              <a:t>m</a:t>
            </a:r>
            <a:r>
              <a:rPr lang="en-US" altLang="zh-TW" sz="2400" dirty="0"/>
              <a:t> ≤ 100) </a:t>
            </a:r>
            <a:r>
              <a:rPr lang="zh-TW" altLang="en-US" sz="2400" dirty="0"/>
              <a:t>表示序列的總數。接下來會有 </a:t>
            </a:r>
            <a:r>
              <a:rPr lang="en-US" altLang="zh-TW" sz="2400" i="1" dirty="0"/>
              <a:t>m</a:t>
            </a:r>
            <a:r>
              <a:rPr lang="en-US" altLang="zh-TW" sz="2400" dirty="0"/>
              <a:t> </a:t>
            </a:r>
            <a:r>
              <a:rPr lang="zh-TW" altLang="en-US" sz="2400" dirty="0"/>
              <a:t>行，每一行都是長度為 </a:t>
            </a:r>
            <a:r>
              <a:rPr lang="en-US" altLang="zh-TW" sz="2400" i="1" dirty="0"/>
              <a:t>n</a:t>
            </a:r>
            <a:r>
              <a:rPr lang="en-US" altLang="zh-TW" sz="2400" dirty="0"/>
              <a:t> </a:t>
            </a:r>
            <a:r>
              <a:rPr lang="zh-TW" altLang="en-US" sz="2400" dirty="0"/>
              <a:t>的 </a:t>
            </a:r>
            <a:r>
              <a:rPr lang="en-US" altLang="zh-TW" sz="2400" dirty="0"/>
              <a:t>DNA </a:t>
            </a:r>
            <a:r>
              <a:rPr lang="zh-TW" altLang="en-US" sz="2400" dirty="0"/>
              <a:t>序列。</a:t>
            </a:r>
          </a:p>
          <a:p>
            <a:pPr>
              <a:buFontTx/>
              <a:buNone/>
            </a:pPr>
            <a:endParaRPr lang="zh-TW" altLang="en-US" sz="2400" dirty="0"/>
          </a:p>
          <a:p>
            <a:pPr>
              <a:buFontTx/>
              <a:buNone/>
            </a:pPr>
            <a:r>
              <a:rPr lang="zh-TW" altLang="en-US" sz="2400" dirty="0"/>
              <a:t>	</a:t>
            </a:r>
            <a:r>
              <a:rPr lang="zh-TW" altLang="en-US" sz="2400" b="1" dirty="0"/>
              <a:t>輸出：</a:t>
            </a:r>
            <a:r>
              <a:rPr lang="zh-TW" altLang="en-US" sz="2400" dirty="0"/>
              <a:t>對於每一組測資，從</a:t>
            </a:r>
            <a:r>
              <a:rPr lang="zh-TW" altLang="en-US" sz="2400" dirty="0">
                <a:latin typeface="標楷體"/>
              </a:rPr>
              <a:t>”</a:t>
            </a:r>
            <a:r>
              <a:rPr lang="zh-TW" altLang="en-US" sz="2400" dirty="0"/>
              <a:t>最接近排序好</a:t>
            </a:r>
            <a:r>
              <a:rPr lang="zh-TW" altLang="en-US" sz="2400" dirty="0">
                <a:latin typeface="標楷體"/>
              </a:rPr>
              <a:t>”</a:t>
            </a:r>
            <a:r>
              <a:rPr lang="zh-TW" altLang="en-US" sz="2400" dirty="0"/>
              <a:t>的序列排到</a:t>
            </a:r>
            <a:r>
              <a:rPr lang="zh-TW" altLang="en-US" sz="2400" dirty="0">
                <a:latin typeface="標楷體"/>
              </a:rPr>
              <a:t>”</a:t>
            </a:r>
            <a:r>
              <a:rPr lang="zh-TW" altLang="en-US" sz="2400" dirty="0"/>
              <a:t>幾乎沒有排序過</a:t>
            </a:r>
            <a:r>
              <a:rPr lang="zh-TW" altLang="en-US" sz="2400" dirty="0">
                <a:latin typeface="標楷體"/>
              </a:rPr>
              <a:t>”</a:t>
            </a:r>
            <a:r>
              <a:rPr lang="zh-TW" altLang="en-US" sz="2400" dirty="0"/>
              <a:t>的序列。如果兩個序列的亂度相同，先在輸入檔出現的要先印出。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Getting Started</a:t>
            </a:r>
          </a:p>
        </p:txBody>
      </p:sp>
      <p:sp>
        <p:nvSpPr>
          <p:cNvPr id="1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03C5F-B7BA-4F48-8827-910A243368A9}" type="slidenum">
              <a:rPr lang="en-US" altLang="zh-TW"/>
              <a:pPr/>
              <a:t>16</a:t>
            </a:fld>
            <a:endParaRPr lang="en-US" altLang="zh-TW"/>
          </a:p>
        </p:txBody>
      </p:sp>
      <p:sp>
        <p:nvSpPr>
          <p:cNvPr id="952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5288" y="404813"/>
            <a:ext cx="8229600" cy="4525962"/>
          </a:xfrm>
        </p:spPr>
        <p:txBody>
          <a:bodyPr/>
          <a:lstStyle/>
          <a:p>
            <a:pPr>
              <a:buFontTx/>
              <a:buNone/>
            </a:pPr>
            <a:r>
              <a:rPr lang="zh-TW" altLang="en-US" sz="2800"/>
              <a:t>以下是一個輸出入的實例</a:t>
            </a:r>
            <a:r>
              <a:rPr lang="en-US" altLang="zh-TW" sz="2800"/>
              <a:t>:</a:t>
            </a:r>
          </a:p>
        </p:txBody>
      </p:sp>
      <p:graphicFrame>
        <p:nvGraphicFramePr>
          <p:cNvPr id="95235" name="Group 3"/>
          <p:cNvGraphicFramePr>
            <a:graphicFrameLocks noGrp="1"/>
          </p:cNvGraphicFramePr>
          <p:nvPr/>
        </p:nvGraphicFramePr>
        <p:xfrm>
          <a:off x="684213" y="1233488"/>
          <a:ext cx="7777162" cy="4500563"/>
        </p:xfrm>
        <a:graphic>
          <a:graphicData uri="http://schemas.openxmlformats.org/drawingml/2006/table">
            <a:tbl>
              <a:tblPr/>
              <a:tblGrid>
                <a:gridCol w="4043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5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Sample Input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Sample Output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10 6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AACATGAAGG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TTTTGGCCAA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TTTGGCCAAA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GATCAGATTT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CCCGGGGGGA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ATCGATGCAT</a:t>
                      </a:r>
                      <a:endParaRPr kumimoji="1" lang="en-US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標楷體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CCCGGGGGGA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AACATGAAGG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GATCAGATTT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ATCGATGCAT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TTTTGGCCAA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itchFamily="65" charset="-120"/>
                          <a:cs typeface="Courier New" pitchFamily="49" charset="0"/>
                        </a:rPr>
                        <a:t>TTTGGCCAAA</a:t>
                      </a:r>
                      <a:endParaRPr kumimoji="1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標楷體" pitchFamily="65" charset="-12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701</TotalTime>
  <Words>1537</Words>
  <Application>Microsoft Office PowerPoint</Application>
  <PresentationFormat>如螢幕大小 (4:3)</PresentationFormat>
  <Paragraphs>231</Paragraphs>
  <Slides>16</Slides>
  <Notes>13</Notes>
  <HiddenSlides>0</HiddenSlides>
  <MMClips>0</MMClips>
  <ScaleCrop>false</ScaleCrop>
  <HeadingPairs>
    <vt:vector size="8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1" baseType="lpstr">
      <vt:lpstr>標楷體</vt:lpstr>
      <vt:lpstr>Courier New</vt:lpstr>
      <vt:lpstr>Times New Roman</vt:lpstr>
      <vt:lpstr>預設簡報設計</vt:lpstr>
      <vt:lpstr>方程式</vt:lpstr>
      <vt:lpstr>Getting Started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Merge two sorted arrays: int L[n1], M[n2], arr[n1+n2]</vt:lpstr>
      <vt:lpstr>PowerPoint 簡報</vt:lpstr>
      <vt:lpstr>PowerPoint 簡報</vt:lpstr>
      <vt:lpstr>Exercises</vt:lpstr>
      <vt:lpstr>PowerPoint 簡報</vt:lpstr>
      <vt:lpstr>Exercises</vt:lpstr>
      <vt:lpstr>Exercises</vt:lpstr>
      <vt:lpstr>PowerPoint 簡報</vt:lpstr>
    </vt:vector>
  </TitlesOfParts>
  <Company>陳氏家族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Started</dc:title>
  <dc:creator>yiren</dc:creator>
  <cp:lastModifiedBy>蔡錫鈞</cp:lastModifiedBy>
  <cp:revision>76</cp:revision>
  <dcterms:created xsi:type="dcterms:W3CDTF">2005-07-04T06:10:20Z</dcterms:created>
  <dcterms:modified xsi:type="dcterms:W3CDTF">2023-09-11T15:38:22Z</dcterms:modified>
</cp:coreProperties>
</file>